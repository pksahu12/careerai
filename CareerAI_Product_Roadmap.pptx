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94A3B8"/>
                </a:solidFill>
                <a:latin typeface="Arial"/>
              </a:rPr>
              <a:t>Monthly Recurring Revenue (£k)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(thousands GBP)</c:v>
                </c:pt>
              </c:strCache>
            </c:strRef>
          </c:tx>
          <c:spPr>
            <a:ln w="31750" cap="flat">
              <a:solidFill>
                <a:srgbClr val="6C63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63FF"/>
              </a:solidFill>
              <a:ln w="9525" cap="flat">
                <a:solidFill>
                  <a:srgbClr val="6C63F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6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25</c:v>
                </c:pt>
                <c:pt idx="9">
                  <c:v>35</c:v>
                </c:pt>
                <c:pt idx="10">
                  <c:v>48</c:v>
                </c:pt>
                <c:pt idx="11">
                  <c:v>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68B-458F-A609-0409C46576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2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70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377440" cy="292608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05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  2026-2027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CareerAI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</a:t>
            </a:r>
            <a:r>
              <a:rPr lang="en-US" sz="18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career agent</a:t>
            </a: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that finds jobs,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builds your application, and gets you </a:t>
            </a:r>
            <a:r>
              <a:rPr lang="en-US" sz="1800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hired</a:t>
            </a: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828800" cy="7315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Auto-Apply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3703320"/>
            <a:ext cx="1828800" cy="7315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Matching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14M+ listings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1828800" cy="7315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Coach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0" y="3703320"/>
            <a:ext cx="1828800" cy="7315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Generator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ATS-optimised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32320" y="731520"/>
            <a:ext cx="1737360" cy="3474720"/>
          </a:xfrm>
          <a:prstGeom prst="rect">
            <a:avLst/>
          </a:prstGeom>
          <a:solidFill>
            <a:srgbClr val="1A2235"/>
          </a:solidFill>
          <a:ln w="1270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896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new matches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05472" y="1234440"/>
            <a:ext cx="1591056" cy="694944"/>
          </a:xfrm>
          <a:prstGeom prst="rect">
            <a:avLst/>
          </a:prstGeom>
          <a:solidFill>
            <a:srgbClr val="33415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12710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78624" y="14904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Eng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278624" y="1691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£180kk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05472" y="2039112"/>
            <a:ext cx="1591056" cy="694944"/>
          </a:xfrm>
          <a:prstGeom prst="rect">
            <a:avLst/>
          </a:prstGeom>
          <a:solidFill>
            <a:srgbClr val="33415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20756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Monzo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78624" y="22951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 Lead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78624" y="24963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£155kk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205472" y="2843784"/>
            <a:ext cx="1591056" cy="694944"/>
          </a:xfrm>
          <a:prstGeom prst="rect">
            <a:avLst/>
          </a:prstGeom>
          <a:solidFill>
            <a:srgbClr val="33415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28803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78624" y="30998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 Eng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78624" y="3300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£140kk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AI platform covering every stage of the job search — combining the best of Jack &amp; Jill AI and AIApply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06040" cy="14173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533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07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Job Discovery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0352" y="173736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scans 14M+ listings daily, learns your preferences, surfaces perfect-match roles — no manual searching.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00400" y="1170432"/>
            <a:ext cx="2606040" cy="14173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35331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307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Auto-Generate Materials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64992" y="173736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Tailored CV, cover letter, and follow-up email in seconds — ATS-optimised per role.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035040" y="1170432"/>
            <a:ext cx="2606040" cy="14173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35331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1307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One-Click Auto Apply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199632" y="173736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auto-applies across Indeed, LinkedIn, Reed and Workday simultaneously on your behalf.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65760" y="2743200"/>
            <a:ext cx="2606040" cy="14173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92608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2880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Manager Access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30352" y="331012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 intros directly to recruiters and CTOs — skip the black hole of online applications.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200400" y="2743200"/>
            <a:ext cx="2606040" cy="14173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92608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2880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Coach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364992" y="331012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interviews with real-time AI feedback on structure, confidence, and storytelling clarity.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6035040" y="2743200"/>
            <a:ext cx="2606040" cy="141732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292608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83680" y="2880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Salary Intelligence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199632" y="331012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comp benchmarking by role, level and location to inform every negotiation.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CareerAI combines the best of both worlds with unique differentiators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37744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16459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188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Jack &amp; Jill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16459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188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AIApply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194560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188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536192"/>
            <a:ext cx="237744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AI Job Matching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536192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536192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Partial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536192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36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883664"/>
            <a:ext cx="237744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83664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Auto-Apply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1883664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883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0" y="1883664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883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883664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883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231136"/>
            <a:ext cx="237744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31136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CV &amp; Cover Letter Gen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2231136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231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89120" y="2231136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231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2231136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2311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578608"/>
            <a:ext cx="237744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Hiring Manager Intros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0" y="2578608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2578608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2578608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2926080"/>
            <a:ext cx="237744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Mock Interview Coach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0" y="2926080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89120" y="2926080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2926080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2926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273552"/>
            <a:ext cx="237744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Salary Benchmarking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0" y="3273552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3273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89120" y="3273552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273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35040" y="3273552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3273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3621024"/>
            <a:ext cx="237744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Career Coaching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0" y="3621024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0" y="3621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89120" y="3621024"/>
            <a:ext cx="1645920" cy="347472"/>
          </a:xfrm>
          <a:prstGeom prst="rect">
            <a:avLst/>
          </a:prstGeom>
          <a:solidFill>
            <a:srgbClr val="1A223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3621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35040" y="3621024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35040" y="36210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968496"/>
            <a:ext cx="237744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3968496"/>
            <a:ext cx="23774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Free Tier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0" y="3968496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0" y="3968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389120" y="3968496"/>
            <a:ext cx="1645920" cy="347472"/>
          </a:xfrm>
          <a:prstGeom prst="rect">
            <a:avLst/>
          </a:prstGeom>
          <a:solidFill>
            <a:srgbClr val="111827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0" y="3968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 Partial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35040" y="3968496"/>
            <a:ext cx="2194560" cy="347472"/>
          </a:xfrm>
          <a:prstGeom prst="rect">
            <a:avLst/>
          </a:prstGeom>
          <a:solidFill>
            <a:srgbClr val="0D1733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35040" y="3968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Yes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229600" y="1188720"/>
            <a:ext cx="548640" cy="3474720"/>
          </a:xfrm>
          <a:prstGeom prst="rect">
            <a:avLst/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8229600" y="12618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8229600" y="2103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app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8229600" y="294436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B2B+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B2C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8229600" y="378561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201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&amp; MVP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49440" y="201168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01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Months 1-4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4069080" cy="1170432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9611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84124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AI Matching Engine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22529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 14M+ listings via Adzuna, Reed &amp; Greenhouse APIs. Train preference model on yes/no swipe signals. Target &gt;80% match precision within 6 weeks.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5760" y="2048256"/>
            <a:ext cx="4069080" cy="1170432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94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213969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&amp; Cover Letter Gen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2523744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generates tailored application materials per JD. ATS keyword scoring built in. Target &lt;30-second generation per application.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65760" y="3346704"/>
            <a:ext cx="4069080" cy="1170432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9300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34381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Auto-Apply Engine (Beta)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82219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Playwright-based browser automation to fill and submit on Indeed, LinkedIn, Reed, Workday. CAPTCHA handling + session management.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709160" y="749808"/>
            <a:ext cx="4069080" cy="192024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846320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Private beta — 500 test users recruited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8463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Job match precision &gt;80% within 6 weeks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846320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Auto-apply live on 4 major job boards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84632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CV generator with 5 templates live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709160" y="2834640"/>
            <a:ext cx="4069080" cy="192024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4846320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846320" y="32552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Backend: Node.js + Python (FastAPI), PostgreSQL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846320" y="35935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AI/LLM: Claude API for content gen, embeddings for matching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4846320" y="3931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Automation: Playwright + stealth plugins for auto-apply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4846320" y="4270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Frontend: React + Next.js, mobile-first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201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&amp; Growth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49440" y="201168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01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Months 5-9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2697480" cy="201168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3268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4173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Coach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92224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mock interviews with real-time feedback on structure, confidence scoring, and specific answer improvements for both behavioural and technical rounds.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91840" y="749808"/>
            <a:ext cx="2697480" cy="201168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93268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14173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Salary Intelligence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0" y="1792224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comp data from 100k+ aggregated job postings. Benchmarks by role, seniority, location and company stage to power every negotiation.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217920" y="749808"/>
            <a:ext cx="2697480" cy="201168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93268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4173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Recruiter Network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1792224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10,000+ UK recruiters and hiring managers. Warm intros when match score &gt;85%. Replaces cold applications entirely for matched users.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6576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Targets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65760" y="3337560"/>
            <a:ext cx="196596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65760" y="34381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365760" y="40050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Registered users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578608" y="3337560"/>
            <a:ext cx="196596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2578608" y="34381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2578608" y="40050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active rate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791456" y="3337560"/>
            <a:ext cx="196596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4791456" y="34381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£25k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4791456" y="40050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by Month 9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7004304" y="3337560"/>
            <a:ext cx="196596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7004304" y="34381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 stars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7004304" y="40050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rating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84048"/>
          </a:xfrm>
          <a:prstGeom prst="rect">
            <a:avLst/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201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Monetise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49440" y="201168"/>
            <a:ext cx="18288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01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Months 10-18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938528" cy="265176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2618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£0/mo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" y="206654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+ 5 job matches/day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3776" y="2377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+ 1 CV template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3776" y="2688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Limited auto-apply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3776" y="29992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Basic interview tips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0" y="1143000"/>
            <a:ext cx="1938528" cy="2651760"/>
          </a:xfrm>
          <a:prstGeom prst="rect">
            <a:avLst/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12618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159105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£19/mo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88336" y="206654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Unlimited matches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88336" y="2377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All CV/CL templates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88336" y="2688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+ 50 auto-applies/mo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88336" y="29992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Interview coach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1938528" cy="2651760"/>
          </a:xfrm>
          <a:prstGeom prst="rect">
            <a:avLst/>
          </a:prstGeom>
          <a:solidFill>
            <a:srgbClr val="0D1733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43000"/>
            <a:ext cx="1938528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430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54880" y="14630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1792224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£49/mo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82896" y="22677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Everything in Pro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82896" y="25786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Unlimited auto-apply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82896" y="28895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Hiring manager intros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82896" y="32004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Salary intelligence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49440" y="1143000"/>
            <a:ext cx="1938528" cy="2651760"/>
          </a:xfrm>
          <a:prstGeom prst="rect">
            <a:avLst/>
          </a:prstGeom>
          <a:solidFill>
            <a:srgbClr val="1A2235"/>
          </a:solidFill>
          <a:ln w="6350">
            <a:solidFill>
              <a:srgbClr val="FBBF24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12618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159105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77456" y="206654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ATS integrations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077456" y="2377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Bulk hiring tools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077456" y="2688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Analytics dashboard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77456" y="29992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Dedicated account mgr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3913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Opportunity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279392"/>
            <a:ext cx="2697480" cy="768096"/>
          </a:xfrm>
          <a:prstGeom prst="rect">
            <a:avLst/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93776" y="43251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 Listings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3776" y="459028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pay to feature roles + get instant AI-matched shortlists from our user pool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91840" y="4279392"/>
            <a:ext cx="2697480" cy="768096"/>
          </a:xfrm>
          <a:prstGeom prst="rect">
            <a:avLst/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19856" y="43251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Recruiter Tools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19856" y="459028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ATS integrations and pipeline management for agencies and in-house TA teams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17920" y="4279392"/>
            <a:ext cx="2697480" cy="768096"/>
          </a:xfrm>
          <a:prstGeom prst="rect">
            <a:avLst/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45936" y="43251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Licences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45936" y="459028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White-label platform for careers services — per-institution licence fee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18-Month Roadmap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321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969264"/>
            <a:ext cx="219456" cy="21945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2560320" cy="62179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M1-4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1993392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0299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AI job matching engine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2505456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54203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CV &amp; cover letter gen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" y="3017520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0540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Auto-apply beta (4 boards)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" y="3529584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User onboarding + profile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" y="4041648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40782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Private beta: 500 users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70832" y="969264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261872"/>
            <a:ext cx="2560320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0" y="16459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M5-9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73552" y="1993392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64992" y="20299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Interview coach feature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73552" y="2505456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64992" y="254203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Salary intelligence tool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73552" y="3017520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64992" y="30540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Recruiter network launch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73552" y="3529584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64992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iOS &amp; Android apps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73552" y="4041648"/>
            <a:ext cx="241401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64992" y="40782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Public launch: 10k users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51192" y="969264"/>
            <a:ext cx="219456" cy="21945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261872"/>
            <a:ext cx="2834640" cy="621792"/>
          </a:xfrm>
          <a:prstGeom prst="rect">
            <a:avLst/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280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1645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M10-18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16752" y="1993392"/>
            <a:ext cx="268833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08192" y="20299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Paid tiers launch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16752" y="2505456"/>
            <a:ext cx="268833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08192" y="254203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B2B employer product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16752" y="3017520"/>
            <a:ext cx="268833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08192" y="305409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University partnerships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16752" y="3529584"/>
            <a:ext cx="268833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08192" y="35661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International expansion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16752" y="4041648"/>
            <a:ext cx="2688336" cy="438912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08192" y="407822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Series A prep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 model — Jack &amp; Jill raised $20M; AIApply serves 1.1M+ users across comparable features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43000"/>
            <a:ext cx="3108960" cy="82296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£780k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669280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 ARR Target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669280" y="2112264"/>
            <a:ext cx="3108960" cy="82296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2157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0" y="2615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Break-even Month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0" y="3081528"/>
            <a:ext cx="3108960" cy="82296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3127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£15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69280" y="3584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CAC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0" y="4050792"/>
            <a:ext cx="3108960" cy="822960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4096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: 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669280" y="4553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LTV to CAC Ratio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1A2235"/>
          </a:solidFill>
          <a:ln w="635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Budget: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01168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 Engineering 45%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10128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 AI / Infra 20%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608576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 Marketing 20%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907024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 Operations 10%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205472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 Legal 5%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8640" y="4608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seed ask: £500k - £750k    |    Target close: Month 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694944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789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9692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board blocking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50976" y="1307592"/>
            <a:ext cx="640080" cy="201168"/>
          </a:xfrm>
          <a:prstGeom prst="rect">
            <a:avLst/>
          </a:prstGeom>
          <a:solidFill>
            <a:srgbClr val="FF6B6B">
              <a:alpha val="28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3075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337560" y="106070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Multi-source aggregation, user-consented browser cookies, API partnerships with major boards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700784"/>
            <a:ext cx="8412480" cy="694944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8836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0976" y="1773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accuracy / hallucination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50976" y="2112264"/>
            <a:ext cx="640080" cy="201168"/>
          </a:xfrm>
          <a:prstGeom prst="rect">
            <a:avLst/>
          </a:prstGeom>
          <a:solidFill>
            <a:srgbClr val="FF6B6B">
              <a:alpha val="28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0976" y="21122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337560" y="18653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Human review layer, user confirmation step before auto-applying to any role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" y="2505456"/>
            <a:ext cx="8412480" cy="694944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6883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976" y="2578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user activation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50976" y="2916936"/>
            <a:ext cx="640080" cy="201168"/>
          </a:xfrm>
          <a:prstGeom prst="rect">
            <a:avLst/>
          </a:prstGeom>
          <a:solidFill>
            <a:srgbClr val="FBBF24">
              <a:alpha val="2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50976" y="29169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3337560" y="267004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Frictionless onboarding (&lt;5 min), first match in 10 min — same hook as Jack &amp; Jill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5760" y="3310128"/>
            <a:ext cx="8412480" cy="694944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4930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976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Monetisation too slow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0976" y="3721608"/>
            <a:ext cx="640080" cy="201168"/>
          </a:xfrm>
          <a:prstGeom prst="rect">
            <a:avLst/>
          </a:prstGeom>
          <a:solidFill>
            <a:srgbClr val="FBBF24">
              <a:alpha val="28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50976" y="3721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3337560" y="347472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Hard freemium limits; 14-day Pro trial; B2B revenue from Month 7 to diversify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65760" y="4114800"/>
            <a:ext cx="8412480" cy="694944"/>
          </a:xfrm>
          <a:prstGeom prst="rect">
            <a:avLst/>
          </a:prstGeom>
          <a:solidFill>
            <a:srgbClr val="1A2235"/>
          </a:solidFill>
          <a:ln w="508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29768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Competition from big players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950976" y="4526280"/>
            <a:ext cx="640080" cy="201168"/>
          </a:xfrm>
          <a:prstGeom prst="rect">
            <a:avLst/>
          </a:prstGeom>
          <a:solidFill>
            <a:srgbClr val="38D39F">
              <a:alpha val="28000"/>
            </a:srgbClr>
          </a:solidFill>
          <a:ln w="6350">
            <a:solidFill>
              <a:srgbClr val="38D39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50976" y="4526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3337560" y="427939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  Speed + UX moat — LinkedIn/Indeed are bloated; we win on AI depth and focus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2286000"/>
            <a:ext cx="6400800" cy="64008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global job search market is broken.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3898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CareerAI fixes it.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920240" cy="1325880"/>
          </a:xfrm>
          <a:prstGeom prst="rect">
            <a:avLst/>
          </a:prstGeom>
          <a:solidFill>
            <a:srgbClr val="1A2235"/>
          </a:solidFill>
          <a:ln w="1016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21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seekers globally using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outdated manual methods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606040" y="2057400"/>
            <a:ext cx="1920240" cy="1325880"/>
          </a:xfrm>
          <a:prstGeom prst="rect">
            <a:avLst/>
          </a:prstGeom>
          <a:solidFill>
            <a:srgbClr val="1A2235"/>
          </a:solidFill>
          <a:ln w="1016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121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26700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addressable market in global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services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1920240" cy="1325880"/>
          </a:xfrm>
          <a:prstGeom prst="rect">
            <a:avLst/>
          </a:prstGeom>
          <a:solidFill>
            <a:srgbClr val="1A2235"/>
          </a:solidFill>
          <a:ln w="10160">
            <a:solidFill>
              <a:srgbClr val="38D39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121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D3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6700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CVs never seen by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human recruiter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903720" y="2057400"/>
            <a:ext cx="1920240" cy="1325880"/>
          </a:xfrm>
          <a:prstGeom prst="rect">
            <a:avLst/>
          </a:prstGeom>
          <a:solidFill>
            <a:srgbClr val="1A2235"/>
          </a:solidFill>
          <a:ln w="10160">
            <a:solidFill>
              <a:srgbClr val="FBBF24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121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 faster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26700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to hire with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AI-matched candidates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35478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931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Finalise technical co-founder / CTO hire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Apply to EF, YC or Antler accelerator cohort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44074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Secure seed funding (£500k - £750k)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46451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 Begin Sprint 1 — job ingestion pipeline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CareerAI  -  Built to get you hired.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1096</Words>
  <Application>Microsoft Office PowerPoint</Application>
  <PresentationFormat>On-screen Show (16:9)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CareerAI – Product Roadmap</dc:title>
  <dc:subject>PptxGenJS Presentation</dc:subject>
  <dc:creator>PptxGenJS</dc:creator>
  <cp:lastModifiedBy>Praveen</cp:lastModifiedBy>
  <cp:revision>1</cp:revision>
  <dcterms:created xsi:type="dcterms:W3CDTF">2026-05-07T15:41:32Z</dcterms:created>
  <dcterms:modified xsi:type="dcterms:W3CDTF">2026-05-07T16:00:38Z</dcterms:modified>
</cp:coreProperties>
</file>