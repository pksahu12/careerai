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029200" cy="5029200"/>
          </a:xfrm>
          <a:prstGeom prst="ellipse">
            <a:avLst/>
          </a:prstGeom>
          <a:ln w="19050">
            <a:solidFill>
              <a:srgbClr val="7B5EA7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926080"/>
            <a:ext cx="3200400" cy="3200400"/>
          </a:xfrm>
          <a:prstGeom prst="ellipse">
            <a:avLst/>
          </a:prstGeom>
          <a:ln w="19050">
            <a:solidFill>
              <a:srgbClr val="00D4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"/>
            <a:ext cx="2103120" cy="301752"/>
          </a:xfrm>
          <a:prstGeom prst="roundRect">
            <a:avLst>
              <a:gd name="adj" fmla="val 18182"/>
            </a:avLst>
          </a:prstGeom>
          <a:solidFill>
            <a:srgbClr val="6B48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0292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  2026-2027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LaunchVector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</a:t>
            </a:r>
            <a:pPr algn="l" indent="0" marL="0">
              <a:buNone/>
            </a:pPr>
            <a:r>
              <a:rPr lang="en-US" sz="21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career agent</a:t>
            </a:r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applies to jobs,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coaches your interviews, and gets you </a:t>
            </a:r>
            <a:pPr algn="l" indent="0" marL="0">
              <a:buNone/>
            </a:pPr>
            <a:r>
              <a:rPr lang="en-US" sz="21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hired.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9067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Auto-Apply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44728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browser agent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06040" y="29718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309067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Matching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97480" y="344728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50M+ listings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9718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09067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Coach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344728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29718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309067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ML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95160" y="344728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&amp; improves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75120" y="502920"/>
            <a:ext cx="2103120" cy="425196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6217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new matches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84848" y="1005840"/>
            <a:ext cx="1874520" cy="1005840"/>
          </a:xfrm>
          <a:prstGeom prst="roundRect">
            <a:avLst>
              <a:gd name="adj" fmla="val 7273"/>
            </a:avLst>
          </a:prstGeom>
          <a:solidFill>
            <a:srgbClr val="1C23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11155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03720" y="138988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Eng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03720" y="1645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$210k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784848" y="2194560"/>
            <a:ext cx="1874520" cy="1005840"/>
          </a:xfrm>
          <a:prstGeom prst="roundRect">
            <a:avLst>
              <a:gd name="adj" fmla="val 7273"/>
            </a:avLst>
          </a:prstGeom>
          <a:solidFill>
            <a:srgbClr val="1C23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23042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03720" y="25786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 Lead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03720" y="2834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$185k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784848" y="3383280"/>
            <a:ext cx="1874520" cy="1005840"/>
          </a:xfrm>
          <a:prstGeom prst="roundRect">
            <a:avLst>
              <a:gd name="adj" fmla="val 7273"/>
            </a:avLst>
          </a:prstGeom>
          <a:solidFill>
            <a:srgbClr val="1C23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03720" y="34930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03720" y="37673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 Eng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03720" y="40233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$165k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Building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AI platform replacing $5K–$15K human reverse recruiters at 1/10th the cost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417320"/>
            <a:ext cx="411480" cy="411480"/>
          </a:xfrm>
          <a:prstGeom prst="ellipse">
            <a:avLst/>
          </a:prstGeom>
          <a:solidFill>
            <a:srgbClr val="00D4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43560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Job Discovery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892808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scans 50M+ listings daily, learns preferences, surfaces perfect-match roles with competition score &amp; urgency signal.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10712" y="1417320"/>
            <a:ext cx="411480" cy="411480"/>
          </a:xfrm>
          <a:prstGeom prst="ellipse">
            <a:avLst/>
          </a:prstGeom>
          <a:solidFill>
            <a:srgbClr val="7B5EA7">
              <a:alpha val="2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410712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31920" y="143560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 Materials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10712" y="1892808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CV, cover letter, and follow-up email in seconds — ATS-keyword-optimised per role, per JD.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23444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91072" y="1417320"/>
            <a:ext cx="411480" cy="411480"/>
          </a:xfrm>
          <a:prstGeom prst="ellipse">
            <a:avLst/>
          </a:prstGeom>
          <a:solidFill>
            <a:srgbClr val="00C9A7">
              <a:alpha val="2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12280" y="143560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Auto Apply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91072" y="1892808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browser agents auto-apply across 50+ ATS platforms (Workday, Greenhouse, Lever) simultaneously.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3108960"/>
            <a:ext cx="411480" cy="411480"/>
          </a:xfrm>
          <a:prstGeom prst="ellipse">
            <a:avLst/>
          </a:prstGeom>
          <a:solidFill>
            <a:srgbClr val="F5A623">
              <a:alpha val="2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🤝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312724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Manager Access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" y="3584448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intros to recruiters via network graph traversal — skip the black hole of cold applications.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46120" y="292608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10712" y="3108960"/>
            <a:ext cx="411480" cy="411480"/>
          </a:xfrm>
          <a:prstGeom prst="ellipse">
            <a:avLst/>
          </a:prstGeom>
          <a:solidFill>
            <a:srgbClr val="7B5EA7">
              <a:alpha val="2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410712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🎤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931920" y="312724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Coach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10712" y="3584448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AI mock interviews with real-time feedback on structure, confidence, STAR framework, and pacing.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91072" y="3108960"/>
            <a:ext cx="411480" cy="411480"/>
          </a:xfrm>
          <a:prstGeom prst="ellipse">
            <a:avLst/>
          </a:prstGeom>
          <a:solidFill>
            <a:srgbClr val="00D4FF">
              <a:alpha val="2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291072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12280" y="312724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Intelligence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91072" y="3584448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 trained on application outcomes — gets smarter with every candidate placed. Data moat compounds.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LaunchVector is the first AI-native, venture-scalable platform in reverse recruiting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47472" y="1188720"/>
            <a:ext cx="2651760" cy="420624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90672" y="1188720"/>
            <a:ext cx="1371600" cy="420624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188720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My Prof.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53712" y="1188720"/>
            <a:ext cx="1371600" cy="420624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188720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Agents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16752" y="1188720"/>
            <a:ext cx="1371600" cy="420624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188720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LoopCV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79792" y="1188720"/>
            <a:ext cx="1371600" cy="420624"/>
          </a:xfrm>
          <a:prstGeom prst="rect">
            <a:avLst/>
          </a:prstGeom>
          <a:solidFill>
            <a:srgbClr val="1C2330"/>
          </a:solidFill>
          <a:ln w="19050">
            <a:solidFill>
              <a:srgbClr val="6B4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188720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LaunchVector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" y="1609344"/>
            <a:ext cx="2651760" cy="420624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609344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Job Matching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90672" y="1609344"/>
            <a:ext cx="1371600" cy="420624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609344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Yes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53712" y="1609344"/>
            <a:ext cx="1371600" cy="420624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609344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Yes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16752" y="1609344"/>
            <a:ext cx="1371600" cy="420624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609344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 Basic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79792" y="1609344"/>
            <a:ext cx="1371600" cy="420624"/>
          </a:xfrm>
          <a:prstGeom prst="rect">
            <a:avLst/>
          </a:prstGeom>
          <a:solidFill>
            <a:srgbClr val="1A1F2E"/>
          </a:solidFill>
          <a:ln w="19050">
            <a:solidFill>
              <a:srgbClr val="6B4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1609344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Yes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7472" y="2029968"/>
            <a:ext cx="2651760" cy="420624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029968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Auto-Apply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090672" y="2029968"/>
            <a:ext cx="1371600" cy="420624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2029968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No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53712" y="2029968"/>
            <a:ext cx="1371600" cy="420624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029968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No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16752" y="2029968"/>
            <a:ext cx="1371600" cy="420624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2029968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Yes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79792" y="2029968"/>
            <a:ext cx="1371600" cy="420624"/>
          </a:xfrm>
          <a:prstGeom prst="rect">
            <a:avLst/>
          </a:prstGeom>
          <a:solidFill>
            <a:srgbClr val="1A1F2E"/>
          </a:solidFill>
          <a:ln w="19050">
            <a:solidFill>
              <a:srgbClr val="6B4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2029968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Yes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47472" y="2450592"/>
            <a:ext cx="2651760" cy="420624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450592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&amp; Cover Letter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090672" y="2450592"/>
            <a:ext cx="1371600" cy="420624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0" y="2450592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53712" y="2450592"/>
            <a:ext cx="1371600" cy="420624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2450592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016752" y="2450592"/>
            <a:ext cx="1371600" cy="420624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2450592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No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479792" y="2450592"/>
            <a:ext cx="1371600" cy="420624"/>
          </a:xfrm>
          <a:prstGeom prst="rect">
            <a:avLst/>
          </a:prstGeom>
          <a:solidFill>
            <a:srgbClr val="1A1F2E"/>
          </a:solidFill>
          <a:ln w="19050">
            <a:solidFill>
              <a:srgbClr val="6B48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2450592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 per-JD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47472" y="2871216"/>
            <a:ext cx="2651760" cy="420624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2871216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Mgr Outreach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090672" y="2871216"/>
            <a:ext cx="1371600" cy="420624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0" y="2871216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Human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553712" y="2871216"/>
            <a:ext cx="1371600" cy="420624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2871216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Human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016752" y="2871216"/>
            <a:ext cx="1371600" cy="420624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26480" y="2871216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No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479792" y="2871216"/>
            <a:ext cx="1371600" cy="420624"/>
          </a:xfrm>
          <a:prstGeom prst="rect">
            <a:avLst/>
          </a:prstGeom>
          <a:solidFill>
            <a:srgbClr val="1A1F2E"/>
          </a:solidFill>
          <a:ln w="19050">
            <a:solidFill>
              <a:srgbClr val="6B48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89520" y="2871216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 agent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47472" y="3291840"/>
            <a:ext cx="2651760" cy="420624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329184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Coach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090672" y="3291840"/>
            <a:ext cx="1371600" cy="420624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0" y="3291840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Human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553712" y="3291840"/>
            <a:ext cx="1371600" cy="420624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63440" y="3291840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Human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016752" y="3291840"/>
            <a:ext cx="1371600" cy="420624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26480" y="3291840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No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7479792" y="3291840"/>
            <a:ext cx="1371600" cy="420624"/>
          </a:xfrm>
          <a:prstGeom prst="rect">
            <a:avLst/>
          </a:prstGeom>
          <a:solidFill>
            <a:srgbClr val="1A1F2E"/>
          </a:solidFill>
          <a:ln w="19050">
            <a:solidFill>
              <a:srgbClr val="6B48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89520" y="3291840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Voice AI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347472" y="3712464"/>
            <a:ext cx="2651760" cy="420624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3712464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Learning ML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3090672" y="3712464"/>
            <a:ext cx="1371600" cy="420624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00400" y="3712464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No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553712" y="3712464"/>
            <a:ext cx="1371600" cy="420624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663440" y="3712464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No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016752" y="3712464"/>
            <a:ext cx="1371600" cy="420624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26480" y="3712464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No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7479792" y="3712464"/>
            <a:ext cx="1371600" cy="420624"/>
          </a:xfrm>
          <a:prstGeom prst="rect">
            <a:avLst/>
          </a:prstGeom>
          <a:solidFill>
            <a:srgbClr val="1A1F2E"/>
          </a:solidFill>
          <a:ln w="19050">
            <a:solidFill>
              <a:srgbClr val="6B48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589520" y="3712464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Yes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347472" y="4133088"/>
            <a:ext cx="2651760" cy="420624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7200" y="4133088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Cost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3090672" y="4133088"/>
            <a:ext cx="1371600" cy="420624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00400" y="4133088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$2,000–3,500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4553712" y="4133088"/>
            <a:ext cx="1371600" cy="420624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663440" y="4133088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$1,499–9,999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6016752" y="4133088"/>
            <a:ext cx="1371600" cy="420624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126480" y="4133088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€10–30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7479792" y="4133088"/>
            <a:ext cx="1371600" cy="420624"/>
          </a:xfrm>
          <a:prstGeom prst="rect">
            <a:avLst/>
          </a:prstGeom>
          <a:solidFill>
            <a:srgbClr val="1A1F2E"/>
          </a:solidFill>
          <a:ln w="19050">
            <a:solidFill>
              <a:srgbClr val="6B48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589520" y="4133088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$149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8897112" y="1272845"/>
            <a:ext cx="749808" cy="672998"/>
          </a:xfrm>
          <a:prstGeom prst="roundRect">
            <a:avLst>
              <a:gd name="adj" fmla="val 10870"/>
            </a:avLst>
          </a:prstGeom>
          <a:solidFill>
            <a:srgbClr val="1A1F2E"/>
          </a:solidFill>
          <a:ln w="12700">
            <a:solidFill>
              <a:srgbClr val="6B48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897112" y="1272845"/>
            <a:ext cx="749808" cy="672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8897112" y="2114093"/>
            <a:ext cx="749808" cy="672998"/>
          </a:xfrm>
          <a:prstGeom prst="roundRect">
            <a:avLst>
              <a:gd name="adj" fmla="val 10870"/>
            </a:avLst>
          </a:prstGeom>
          <a:solidFill>
            <a:srgbClr val="1A1F2E"/>
          </a:solidFill>
          <a:ln w="12700">
            <a:solidFill>
              <a:srgbClr val="6B48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897112" y="2114093"/>
            <a:ext cx="749808" cy="672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moat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8897112" y="2955341"/>
            <a:ext cx="749808" cy="672998"/>
          </a:xfrm>
          <a:prstGeom prst="roundRect">
            <a:avLst>
              <a:gd name="adj" fmla="val 10870"/>
            </a:avLst>
          </a:prstGeom>
          <a:solidFill>
            <a:srgbClr val="1A1F2E"/>
          </a:solidFill>
          <a:ln w="12700">
            <a:solidFill>
              <a:srgbClr val="6B48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897112" y="2955341"/>
            <a:ext cx="749808" cy="672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B2B+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8897112" y="3796589"/>
            <a:ext cx="749808" cy="672998"/>
          </a:xfrm>
          <a:prstGeom prst="roundRect">
            <a:avLst>
              <a:gd name="adj" fmla="val 10870"/>
            </a:avLst>
          </a:prstGeom>
          <a:solidFill>
            <a:srgbClr val="1A1F2E"/>
          </a:solidFill>
          <a:ln w="12700">
            <a:solidFill>
              <a:srgbClr val="6B48F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897112" y="3796589"/>
            <a:ext cx="749808" cy="672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$149/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868680" cy="292608"/>
          </a:xfrm>
          <a:prstGeom prst="roundRect">
            <a:avLst>
              <a:gd name="adj" fmla="val 15625"/>
            </a:avLst>
          </a:prstGeom>
          <a:solidFill>
            <a:srgbClr val="6B48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25880" y="20116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&amp; MVP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0" y="22860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9050">
            <a:solidFill>
              <a:srgbClr val="6B4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228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4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1-4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777240"/>
            <a:ext cx="4434840" cy="128016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0352" y="960120"/>
            <a:ext cx="438912" cy="438912"/>
          </a:xfrm>
          <a:prstGeom prst="ellipse">
            <a:avLst/>
          </a:prstGeom>
          <a:solidFill>
            <a:srgbClr val="00D4FF">
              <a:alpha val="2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9601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78992" y="960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AI Matching Engine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" y="13716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50M+ listings via Adzuna, Indeed &amp; LinkedIn APIs. Train preference model on candidate swipe signals. Target &gt;80% match precision within 6 weeks.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7472" y="2167128"/>
            <a:ext cx="4434840" cy="128016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" y="2350008"/>
            <a:ext cx="438912" cy="438912"/>
          </a:xfrm>
          <a:prstGeom prst="ellipse">
            <a:avLst/>
          </a:prstGeom>
          <a:solidFill>
            <a:srgbClr val="7B5EA7">
              <a:alpha val="2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3500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78992" y="23500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&amp; Cover Letter Gen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" y="2761488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 generates tailored application materials per JD. ATS keyword scoring baked in. Target &lt;30-second generation per application.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7472" y="3557016"/>
            <a:ext cx="4434840" cy="128016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352" y="3739896"/>
            <a:ext cx="438912" cy="438912"/>
          </a:xfrm>
          <a:prstGeom prst="ellipse">
            <a:avLst/>
          </a:prstGeom>
          <a:solidFill>
            <a:srgbClr val="00C9A7">
              <a:alpha val="2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37398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78992" y="373989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Auto-Apply Engine (Beta)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0352" y="4151376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browser agents fill and submit on Greenhouse, Lever, Workday, Ashby. CAPTCHA handling + session management across all platforms.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983480" y="777240"/>
            <a:ext cx="3794760" cy="18288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86868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Milestones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66360" y="12801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 Private beta — 500 test users recruited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66360" y="16002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 Job match precision &gt;80% within 6 weeks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66360" y="19202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 Auto-apply live on 5 major job boards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22402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 CV generator with 5 templates live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83480" y="2743200"/>
            <a:ext cx="379476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28346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66360" y="32461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 Backend: Node.js + Python (FastAPI), PostgreSQL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166360" y="363016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 AI/LLM: Claude API (gen) + embeddings (matching)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166360" y="4014216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 Automation: Playwright + stealth plugins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166360" y="439826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 Frontend: React + Next.js, mobile-first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868680" cy="292608"/>
          </a:xfrm>
          <a:prstGeom prst="roundRect">
            <a:avLst>
              <a:gd name="adj" fmla="val 15625"/>
            </a:avLst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25880" y="20116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&amp; Growth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0" y="22860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228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5-9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777240"/>
            <a:ext cx="2788920" cy="2057400"/>
          </a:xfrm>
          <a:prstGeom prst="roundRect">
            <a:avLst>
              <a:gd name="adj" fmla="val 35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0352" y="896112"/>
            <a:ext cx="502920" cy="502920"/>
          </a:xfrm>
          <a:prstGeom prst="ellipse">
            <a:avLst/>
          </a:prstGeom>
          <a:solidFill>
            <a:srgbClr val="7B5EA7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896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🎤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0352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Coach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" y="1901952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AI mock interviews with real-time feedback on structure, confidence scoring, and answer improvements for behavioural and technical rounds.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91840" y="777240"/>
            <a:ext cx="2788920" cy="2057400"/>
          </a:xfrm>
          <a:prstGeom prst="roundRect">
            <a:avLst>
              <a:gd name="adj" fmla="val 35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896112"/>
            <a:ext cx="502920" cy="502920"/>
          </a:xfrm>
          <a:prstGeom prst="ellipse">
            <a:avLst/>
          </a:prstGeom>
          <a:solidFill>
            <a:srgbClr val="F5A623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896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7472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Intelligence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1901952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comp data from 500k+ aggregated job postings. Benchmarks by role, seniority, location, and company stage to power every negotiation.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36208" y="777240"/>
            <a:ext cx="2788920" cy="2057400"/>
          </a:xfrm>
          <a:prstGeom prst="roundRect">
            <a:avLst>
              <a:gd name="adj" fmla="val 35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19088" y="896112"/>
            <a:ext cx="502920" cy="502920"/>
          </a:xfrm>
          <a:prstGeom prst="ellipse">
            <a:avLst/>
          </a:prstGeom>
          <a:solidFill>
            <a:srgbClr val="00C9A7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19088" y="896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19088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 Agent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19088" y="1901952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10,000+ hiring managers in network. AI personalises LinkedIn/email messages with company news &amp; shared connections. Warm intros when match score &gt;85%.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47472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Targets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7472" y="3401568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584448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438912" y="425196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users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60320" y="3401568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3584448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2651760" y="425196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active rate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73168" y="3401568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3584448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$75k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4864608" y="425196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by Month 9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86016" y="3401568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77456" y="3584448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 ★</a:t>
            </a:r>
            <a:endParaRPr lang="en-US" sz="3800" dirty="0"/>
          </a:p>
        </p:txBody>
      </p:sp>
      <p:sp>
        <p:nvSpPr>
          <p:cNvPr id="34" name="Text 32"/>
          <p:cNvSpPr/>
          <p:nvPr/>
        </p:nvSpPr>
        <p:spPr>
          <a:xfrm>
            <a:off x="7077456" y="425196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 rating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868680" cy="292608"/>
          </a:xfrm>
          <a:prstGeom prst="roundRect">
            <a:avLst>
              <a:gd name="adj" fmla="val 15625"/>
            </a:avLst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25880" y="20116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&amp; Monetise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0" y="22860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228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10-18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777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7472" y="1170432"/>
            <a:ext cx="2057400" cy="2606040"/>
          </a:xfrm>
          <a:prstGeom prst="roundRect">
            <a:avLst>
              <a:gd name="adj" fmla="val 35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26187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" y="16002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12064" y="20848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+ 5 applications/wk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" y="24048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Resume tailoring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" y="2724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Job feed access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" y="30449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Basic dashboard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0" y="1170432"/>
            <a:ext cx="2057400" cy="2606040"/>
          </a:xfrm>
          <a:prstGeom prst="roundRect">
            <a:avLst>
              <a:gd name="adj" fmla="val 35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126187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697480" y="16002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$149/mo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724912" y="20848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+ 100 applications/wk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24912" y="24048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Outreach agent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24912" y="2724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Interview prep AI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24912" y="30449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Salary intel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73168" y="1170432"/>
            <a:ext cx="2057400" cy="2606040"/>
          </a:xfrm>
          <a:prstGeom prst="roundRect">
            <a:avLst>
              <a:gd name="adj" fmla="val 3556"/>
            </a:avLst>
          </a:prstGeom>
          <a:solidFill>
            <a:srgbClr val="161B22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93208" y="1051560"/>
            <a:ext cx="1417320" cy="237744"/>
          </a:xfrm>
          <a:prstGeom prst="roundRect">
            <a:avLst>
              <a:gd name="adj" fmla="val 15385"/>
            </a:avLst>
          </a:prstGeom>
          <a:solidFill>
            <a:srgbClr val="7B5EA7"/>
          </a:solidFill>
          <a:ln/>
        </p:spPr>
      </p:sp>
      <p:sp>
        <p:nvSpPr>
          <p:cNvPr id="24" name="Text 22"/>
          <p:cNvSpPr/>
          <p:nvPr/>
        </p:nvSpPr>
        <p:spPr>
          <a:xfrm>
            <a:off x="5093208" y="10515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10328" y="126187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910328" y="16002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$349/mo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937760" y="20848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+ 200 applications/wk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24048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Warm intro network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2724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Voice AI coaching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30449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Human strategy call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86016" y="1170432"/>
            <a:ext cx="2057400" cy="2606040"/>
          </a:xfrm>
          <a:prstGeom prst="roundRect">
            <a:avLst>
              <a:gd name="adj" fmla="val 35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23176" y="126187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23176" y="16002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150608" y="20848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Unlimited volume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50608" y="24048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HRIS integration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50608" y="2724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Outplacement program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50608" y="30449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Dedicated account mgr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7472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Opportunity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47472" y="4206240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" y="426110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Outplacement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4632" y="453542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pay $2–5K/employee for 90-day access for laid-off workers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91840" y="4206240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29000" y="426110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Coach API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429000" y="453542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 platform at $199/seat/mo for coaches serving clients at scale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36208" y="4206240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73368" y="426110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Licences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373368" y="453542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 platform for careers services — per-institution annual licence fee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Roadmap Timeline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89888"/>
            <a:ext cx="8321040" cy="0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72184" y="1188720"/>
            <a:ext cx="402336" cy="402336"/>
          </a:xfrm>
          <a:prstGeom prst="ellipse">
            <a:avLst/>
          </a:prstGeom>
          <a:solidFill>
            <a:srgbClr val="6B48FF"/>
          </a:solidFill>
          <a:ln/>
        </p:spPr>
      </p:sp>
      <p:sp>
        <p:nvSpPr>
          <p:cNvPr id="5" name="Shape 3"/>
          <p:cNvSpPr/>
          <p:nvPr/>
        </p:nvSpPr>
        <p:spPr>
          <a:xfrm>
            <a:off x="347472" y="1719072"/>
            <a:ext cx="2788920" cy="777240"/>
          </a:xfrm>
          <a:prstGeom prst="roundRect">
            <a:avLst>
              <a:gd name="adj" fmla="val 8235"/>
            </a:avLst>
          </a:prstGeom>
          <a:solidFill>
            <a:srgbClr val="6B48FF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171907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67712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M1-4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2606040"/>
            <a:ext cx="2788920" cy="420624"/>
          </a:xfrm>
          <a:prstGeom prst="roundRect">
            <a:avLst>
              <a:gd name="adj" fmla="val 1739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260604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AI job matching engine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3081528"/>
            <a:ext cx="2788920" cy="420624"/>
          </a:xfrm>
          <a:prstGeom prst="roundRect">
            <a:avLst>
              <a:gd name="adj" fmla="val 1739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3081528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CV &amp; cover letter gen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3557016"/>
            <a:ext cx="2788920" cy="420624"/>
          </a:xfrm>
          <a:prstGeom prst="roundRect">
            <a:avLst>
              <a:gd name="adj" fmla="val 1739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3557016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Auto-apply beta (5 boards)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" y="4032504"/>
            <a:ext cx="2788920" cy="420624"/>
          </a:xfrm>
          <a:prstGeom prst="roundRect">
            <a:avLst>
              <a:gd name="adj" fmla="val 1739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4032504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User onboarding + profile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" y="4507992"/>
            <a:ext cx="2788920" cy="420624"/>
          </a:xfrm>
          <a:prstGeom prst="roundRect">
            <a:avLst>
              <a:gd name="adj" fmla="val 1739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4507992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Private beta: 500 users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70832" y="1188720"/>
            <a:ext cx="402336" cy="40233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9" name="Shape 17"/>
          <p:cNvSpPr/>
          <p:nvPr/>
        </p:nvSpPr>
        <p:spPr>
          <a:xfrm>
            <a:off x="3246120" y="1719072"/>
            <a:ext cx="2788920" cy="777240"/>
          </a:xfrm>
          <a:prstGeom prst="roundRect">
            <a:avLst>
              <a:gd name="adj" fmla="val 8235"/>
            </a:avLst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3337560" y="171907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66360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M5-9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46120" y="2606040"/>
            <a:ext cx="2788920" cy="420624"/>
          </a:xfrm>
          <a:prstGeom prst="roundRect">
            <a:avLst>
              <a:gd name="adj" fmla="val 1739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60604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Interview coach feature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46120" y="3081528"/>
            <a:ext cx="2788920" cy="420624"/>
          </a:xfrm>
          <a:prstGeom prst="roundRect">
            <a:avLst>
              <a:gd name="adj" fmla="val 1739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3081528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Salary intelligence tool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46120" y="3557016"/>
            <a:ext cx="2788920" cy="420624"/>
          </a:xfrm>
          <a:prstGeom prst="roundRect">
            <a:avLst>
              <a:gd name="adj" fmla="val 1739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557016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Outreach agent launch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46120" y="4032504"/>
            <a:ext cx="2788920" cy="420624"/>
          </a:xfrm>
          <a:prstGeom prst="roundRect">
            <a:avLst>
              <a:gd name="adj" fmla="val 1739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4032504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iOS &amp; Android apps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46120" y="4507992"/>
            <a:ext cx="2788920" cy="420624"/>
          </a:xfrm>
          <a:prstGeom prst="roundRect">
            <a:avLst>
              <a:gd name="adj" fmla="val 1739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4507992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Public launch: 10k users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269480" y="1188720"/>
            <a:ext cx="402336" cy="402336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3" name="Shape 31"/>
          <p:cNvSpPr/>
          <p:nvPr/>
        </p:nvSpPr>
        <p:spPr>
          <a:xfrm>
            <a:off x="6144768" y="1719072"/>
            <a:ext cx="2788920" cy="777240"/>
          </a:xfrm>
          <a:prstGeom prst="roundRect">
            <a:avLst>
              <a:gd name="adj" fmla="val 8235"/>
            </a:avLst>
          </a:prstGeom>
          <a:solidFill>
            <a:srgbClr val="00C9A7"/>
          </a:solidFill>
          <a:ln/>
        </p:spPr>
      </p:sp>
      <p:sp>
        <p:nvSpPr>
          <p:cNvPr id="34" name="Text 32"/>
          <p:cNvSpPr/>
          <p:nvPr/>
        </p:nvSpPr>
        <p:spPr>
          <a:xfrm>
            <a:off x="6236208" y="171907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06500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M10-12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144768" y="2606040"/>
            <a:ext cx="2788920" cy="420624"/>
          </a:xfrm>
          <a:prstGeom prst="roundRect">
            <a:avLst>
              <a:gd name="adj" fmla="val 1739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81928" y="260604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Paid tiers launch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44768" y="3081528"/>
            <a:ext cx="2788920" cy="420624"/>
          </a:xfrm>
          <a:prstGeom prst="roundRect">
            <a:avLst>
              <a:gd name="adj" fmla="val 1739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81928" y="3081528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B2B enterprise product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144768" y="3557016"/>
            <a:ext cx="2788920" cy="420624"/>
          </a:xfrm>
          <a:prstGeom prst="roundRect">
            <a:avLst>
              <a:gd name="adj" fmla="val 1739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81928" y="3557016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University partnerships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144768" y="4032504"/>
            <a:ext cx="2788920" cy="420624"/>
          </a:xfrm>
          <a:prstGeom prst="roundRect">
            <a:avLst>
              <a:gd name="adj" fmla="val 1739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81928" y="4032504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International expansion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144768" y="4507992"/>
            <a:ext cx="2788920" cy="420624"/>
          </a:xfrm>
          <a:prstGeom prst="roundRect">
            <a:avLst>
              <a:gd name="adj" fmla="val 1739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81928" y="4507992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Series A preparation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Projections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model — $149/mo Professional tier drives unit economics from Month 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47472" y="1051560"/>
            <a:ext cx="521208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7043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Recurring Revenue ($k)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" y="4032504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49808" y="4160520"/>
            <a:ext cx="452628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3557016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3685032"/>
            <a:ext cx="452628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308152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3209544"/>
            <a:ext cx="452628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60604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9808" y="2734056"/>
            <a:ext cx="452628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130552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9808" y="2258568"/>
            <a:ext cx="452628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655064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9808" y="1783080"/>
            <a:ext cx="452628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4251960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42416" y="4251960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417320" y="4251960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792224" y="4251960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167128" y="4251960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42032" y="4251960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916936" y="4251960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91840" y="4251960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66744" y="4251960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041648" y="4251960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416552" y="4251960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91456" y="4251960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05256" y="4087368"/>
            <a:ext cx="128016" cy="12801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216152" y="4148633"/>
            <a:ext cx="256032" cy="11887"/>
          </a:xfrm>
          <a:prstGeom prst="roundRect">
            <a:avLst>
              <a:gd name="adj" fmla="val 230773"/>
            </a:avLst>
          </a:prstGeom>
          <a:solidFill>
            <a:srgbClr val="6B48FF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280160" y="4075481"/>
            <a:ext cx="128016" cy="12801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3" name="Shape 31"/>
          <p:cNvSpPr/>
          <p:nvPr/>
        </p:nvSpPr>
        <p:spPr>
          <a:xfrm>
            <a:off x="1591056" y="4112971"/>
            <a:ext cx="256032" cy="47549"/>
          </a:xfrm>
          <a:prstGeom prst="roundRect">
            <a:avLst>
              <a:gd name="adj" fmla="val 57692"/>
            </a:avLst>
          </a:prstGeom>
          <a:solidFill>
            <a:srgbClr val="6B48FF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655064" y="4039819"/>
            <a:ext cx="128016" cy="12801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965960" y="4041648"/>
            <a:ext cx="256032" cy="118872"/>
          </a:xfrm>
          <a:prstGeom prst="roundRect">
            <a:avLst>
              <a:gd name="adj" fmla="val 23077"/>
            </a:avLst>
          </a:prstGeom>
          <a:solidFill>
            <a:srgbClr val="6B48FF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029968" y="3968496"/>
            <a:ext cx="128016" cy="12801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7" name="Shape 35"/>
          <p:cNvSpPr/>
          <p:nvPr/>
        </p:nvSpPr>
        <p:spPr>
          <a:xfrm>
            <a:off x="2340864" y="3970325"/>
            <a:ext cx="256032" cy="190195"/>
          </a:xfrm>
          <a:prstGeom prst="roundRect">
            <a:avLst>
              <a:gd name="adj" fmla="val 14423"/>
            </a:avLst>
          </a:prstGeom>
          <a:solidFill>
            <a:srgbClr val="6B48FF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404872" y="3897173"/>
            <a:ext cx="128016" cy="12801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9" name="Shape 37"/>
          <p:cNvSpPr/>
          <p:nvPr/>
        </p:nvSpPr>
        <p:spPr>
          <a:xfrm>
            <a:off x="2715768" y="3875227"/>
            <a:ext cx="256032" cy="285293"/>
          </a:xfrm>
          <a:prstGeom prst="roundRect">
            <a:avLst>
              <a:gd name="adj" fmla="val 10714"/>
            </a:avLst>
          </a:prstGeom>
          <a:solidFill>
            <a:srgbClr val="6B48FF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2779776" y="3802075"/>
            <a:ext cx="128016" cy="12801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1" name="Shape 39"/>
          <p:cNvSpPr/>
          <p:nvPr/>
        </p:nvSpPr>
        <p:spPr>
          <a:xfrm>
            <a:off x="3090672" y="3732581"/>
            <a:ext cx="256032" cy="427939"/>
          </a:xfrm>
          <a:prstGeom prst="roundRect">
            <a:avLst>
              <a:gd name="adj" fmla="val 10714"/>
            </a:avLst>
          </a:prstGeom>
          <a:solidFill>
            <a:srgbClr val="6B48FF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154680" y="3659429"/>
            <a:ext cx="128016" cy="12801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3" name="Shape 41"/>
          <p:cNvSpPr/>
          <p:nvPr/>
        </p:nvSpPr>
        <p:spPr>
          <a:xfrm>
            <a:off x="3465576" y="3494837"/>
            <a:ext cx="256032" cy="665683"/>
          </a:xfrm>
          <a:prstGeom prst="roundRect">
            <a:avLst>
              <a:gd name="adj" fmla="val 10714"/>
            </a:avLst>
          </a:prstGeom>
          <a:solidFill>
            <a:srgbClr val="6B48FF"/>
          </a:solidFill>
          <a:ln/>
        </p:spPr>
      </p:sp>
      <p:sp>
        <p:nvSpPr>
          <p:cNvPr id="44" name="Shape 42"/>
          <p:cNvSpPr/>
          <p:nvPr/>
        </p:nvSpPr>
        <p:spPr>
          <a:xfrm>
            <a:off x="3529584" y="3421685"/>
            <a:ext cx="128016" cy="12801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5" name="Shape 43"/>
          <p:cNvSpPr/>
          <p:nvPr/>
        </p:nvSpPr>
        <p:spPr>
          <a:xfrm>
            <a:off x="3840480" y="3161995"/>
            <a:ext cx="256032" cy="998525"/>
          </a:xfrm>
          <a:prstGeom prst="roundRect">
            <a:avLst>
              <a:gd name="adj" fmla="val 10714"/>
            </a:avLst>
          </a:prstGeom>
          <a:solidFill>
            <a:srgbClr val="6B48FF"/>
          </a:solidFill>
          <a:ln/>
        </p:spPr>
      </p:sp>
      <p:sp>
        <p:nvSpPr>
          <p:cNvPr id="46" name="Shape 44"/>
          <p:cNvSpPr/>
          <p:nvPr/>
        </p:nvSpPr>
        <p:spPr>
          <a:xfrm>
            <a:off x="3904488" y="3088843"/>
            <a:ext cx="128016" cy="12801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7" name="Shape 45"/>
          <p:cNvSpPr/>
          <p:nvPr/>
        </p:nvSpPr>
        <p:spPr>
          <a:xfrm>
            <a:off x="4215384" y="2781605"/>
            <a:ext cx="256032" cy="1378915"/>
          </a:xfrm>
          <a:prstGeom prst="roundRect">
            <a:avLst>
              <a:gd name="adj" fmla="val 10714"/>
            </a:avLst>
          </a:prstGeom>
          <a:solidFill>
            <a:srgbClr val="6B48FF"/>
          </a:solidFill>
          <a:ln/>
        </p:spPr>
      </p:sp>
      <p:sp>
        <p:nvSpPr>
          <p:cNvPr id="48" name="Shape 46"/>
          <p:cNvSpPr/>
          <p:nvPr/>
        </p:nvSpPr>
        <p:spPr>
          <a:xfrm>
            <a:off x="4279392" y="2708453"/>
            <a:ext cx="128016" cy="12801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9" name="Shape 47"/>
          <p:cNvSpPr/>
          <p:nvPr/>
        </p:nvSpPr>
        <p:spPr>
          <a:xfrm>
            <a:off x="4590288" y="2377440"/>
            <a:ext cx="256032" cy="1783080"/>
          </a:xfrm>
          <a:prstGeom prst="roundRect">
            <a:avLst>
              <a:gd name="adj" fmla="val 10714"/>
            </a:avLst>
          </a:prstGeom>
          <a:solidFill>
            <a:srgbClr val="6B48FF"/>
          </a:solidFill>
          <a:ln/>
        </p:spPr>
      </p:sp>
      <p:sp>
        <p:nvSpPr>
          <p:cNvPr id="50" name="Shape 48"/>
          <p:cNvSpPr/>
          <p:nvPr/>
        </p:nvSpPr>
        <p:spPr>
          <a:xfrm>
            <a:off x="4654296" y="2304288"/>
            <a:ext cx="128016" cy="12801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51" name="Shape 49"/>
          <p:cNvSpPr/>
          <p:nvPr/>
        </p:nvSpPr>
        <p:spPr>
          <a:xfrm>
            <a:off x="4965192" y="1783080"/>
            <a:ext cx="256032" cy="2377440"/>
          </a:xfrm>
          <a:prstGeom prst="roundRect">
            <a:avLst>
              <a:gd name="adj" fmla="val 10714"/>
            </a:avLst>
          </a:prstGeom>
          <a:solidFill>
            <a:srgbClr val="6B48FF"/>
          </a:solidFill>
          <a:ln/>
        </p:spPr>
      </p:sp>
      <p:sp>
        <p:nvSpPr>
          <p:cNvPr id="52" name="Shape 50"/>
          <p:cNvSpPr/>
          <p:nvPr/>
        </p:nvSpPr>
        <p:spPr>
          <a:xfrm>
            <a:off x="5029200" y="1709928"/>
            <a:ext cx="128016" cy="12801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53" name="Shape 51"/>
          <p:cNvSpPr/>
          <p:nvPr/>
        </p:nvSpPr>
        <p:spPr>
          <a:xfrm>
            <a:off x="5715000" y="1051560"/>
            <a:ext cx="297180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06440" y="1234440"/>
            <a:ext cx="278892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B4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$6M+</a:t>
            </a:r>
            <a:endParaRPr lang="en-US" sz="3800" dirty="0"/>
          </a:p>
        </p:txBody>
      </p:sp>
      <p:sp>
        <p:nvSpPr>
          <p:cNvPr id="55" name="Text 53"/>
          <p:cNvSpPr/>
          <p:nvPr/>
        </p:nvSpPr>
        <p:spPr>
          <a:xfrm>
            <a:off x="5806440" y="1533449"/>
            <a:ext cx="2788920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ARR Target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715000" y="1929384"/>
            <a:ext cx="297180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06440" y="2112264"/>
            <a:ext cx="278892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</a:t>
            </a:r>
            <a:endParaRPr lang="en-US" sz="3800" dirty="0"/>
          </a:p>
        </p:txBody>
      </p:sp>
      <p:sp>
        <p:nvSpPr>
          <p:cNvPr id="58" name="Text 56"/>
          <p:cNvSpPr/>
          <p:nvPr/>
        </p:nvSpPr>
        <p:spPr>
          <a:xfrm>
            <a:off x="5806440" y="2411273"/>
            <a:ext cx="2788920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Target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715000" y="2807208"/>
            <a:ext cx="297180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06440" y="2990088"/>
            <a:ext cx="278892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$120</a:t>
            </a:r>
            <a:endParaRPr lang="en-US" sz="3800" dirty="0"/>
          </a:p>
        </p:txBody>
      </p:sp>
      <p:sp>
        <p:nvSpPr>
          <p:cNvPr id="61" name="Text 59"/>
          <p:cNvSpPr/>
          <p:nvPr/>
        </p:nvSpPr>
        <p:spPr>
          <a:xfrm>
            <a:off x="5806440" y="3289097"/>
            <a:ext cx="2788920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CAC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715000" y="3685032"/>
            <a:ext cx="297180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06440" y="3867912"/>
            <a:ext cx="278892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4.6x</a:t>
            </a:r>
            <a:endParaRPr lang="en-US" sz="3800" dirty="0"/>
          </a:p>
        </p:txBody>
      </p:sp>
      <p:sp>
        <p:nvSpPr>
          <p:cNvPr id="64" name="Text 62"/>
          <p:cNvSpPr/>
          <p:nvPr/>
        </p:nvSpPr>
        <p:spPr>
          <a:xfrm>
            <a:off x="5806440" y="4166921"/>
            <a:ext cx="2788920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to CAC Ratio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347472" y="4645152"/>
            <a:ext cx="8339328" cy="384048"/>
          </a:xfrm>
          <a:prstGeom prst="roundRect">
            <a:avLst>
              <a:gd name="adj" fmla="val 19048"/>
            </a:avLst>
          </a:prstGeom>
          <a:solidFill>
            <a:srgbClr val="1C23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2920" y="46634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Budget: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1691640" y="4773168"/>
            <a:ext cx="137160" cy="137160"/>
          </a:xfrm>
          <a:prstGeom prst="rect">
            <a:avLst/>
          </a:prstGeom>
          <a:solidFill>
            <a:srgbClr val="6B48FF"/>
          </a:solidFill>
          <a:ln/>
        </p:spPr>
      </p:sp>
      <p:sp>
        <p:nvSpPr>
          <p:cNvPr id="68" name="Text 66"/>
          <p:cNvSpPr/>
          <p:nvPr/>
        </p:nvSpPr>
        <p:spPr>
          <a:xfrm>
            <a:off x="1874520" y="4700016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45%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081528" y="4773168"/>
            <a:ext cx="137160" cy="13716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0" name="Text 68"/>
          <p:cNvSpPr/>
          <p:nvPr/>
        </p:nvSpPr>
        <p:spPr>
          <a:xfrm>
            <a:off x="3264408" y="4700016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Infra 20%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471416" y="4773168"/>
            <a:ext cx="137160" cy="1371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2" name="Text 70"/>
          <p:cNvSpPr/>
          <p:nvPr/>
        </p:nvSpPr>
        <p:spPr>
          <a:xfrm>
            <a:off x="4654296" y="4700016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20%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861304" y="4773168"/>
            <a:ext cx="137160" cy="1371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4" name="Text 72"/>
          <p:cNvSpPr/>
          <p:nvPr/>
        </p:nvSpPr>
        <p:spPr>
          <a:xfrm>
            <a:off x="6044184" y="4700016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10%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7251192" y="4773168"/>
            <a:ext cx="137160" cy="1371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6" name="Text 74"/>
          <p:cNvSpPr/>
          <p:nvPr/>
        </p:nvSpPr>
        <p:spPr>
          <a:xfrm>
            <a:off x="7434072" y="4700016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5%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347472" y="5047488"/>
            <a:ext cx="8339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seed ask: $1.5M – $2.5M    |    Target close: Month 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Mitigations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47472" y="914400"/>
            <a:ext cx="8366760" cy="768096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78992"/>
            <a:ext cx="438912" cy="438912"/>
          </a:xfrm>
          <a:prstGeom prst="ellipse">
            <a:avLst/>
          </a:prstGeom>
          <a:solidFill>
            <a:srgbClr val="FF6B6B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789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0241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 platform blocking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51560" y="1344168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FF6B6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3441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0" y="111556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10058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Multi-method submissions: API where available, fingerprint randomisation, human-assisted fallback for blocked platforms.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7472" y="1755648"/>
            <a:ext cx="8366760" cy="768096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920240"/>
            <a:ext cx="438912" cy="438912"/>
          </a:xfrm>
          <a:prstGeom prst="ellipse">
            <a:avLst/>
          </a:prstGeom>
          <a:solidFill>
            <a:srgbClr val="FF6B6B">
              <a:alpha val="2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920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18653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accuracy / hallucination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51560" y="2185416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218541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195681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184708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 layer on every application. User confirmation step before auto-submitting. A/B test resume versions for quality signals.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47472" y="2596896"/>
            <a:ext cx="8366760" cy="768096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761488"/>
            <a:ext cx="438912" cy="438912"/>
          </a:xfrm>
          <a:prstGeom prst="ellipse">
            <a:avLst/>
          </a:prstGeom>
          <a:solidFill>
            <a:srgbClr val="F5A623">
              <a:alpha val="2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7614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1560" y="270662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user activation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51560" y="3026664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302666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279806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0" y="2688336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Frictionless onboarding (&lt;5 min), first 3 applications queued within 10 min. Same activation hook proven by competitors.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47472" y="3438144"/>
            <a:ext cx="8366760" cy="768096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602736"/>
            <a:ext cx="438912" cy="438912"/>
          </a:xfrm>
          <a:prstGeom prst="ellipse">
            <a:avLst/>
          </a:prstGeom>
          <a:solidFill>
            <a:srgbClr val="F5A623">
              <a:alpha val="2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6027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51560" y="35478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Monetisation too slow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51560" y="3867912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/>
        </p:spPr>
      </p:sp>
      <p:sp>
        <p:nvSpPr>
          <p:cNvPr id="32" name="Text 30"/>
          <p:cNvSpPr/>
          <p:nvPr/>
        </p:nvSpPr>
        <p:spPr>
          <a:xfrm>
            <a:off x="1051560" y="38679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91840" y="363931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657600" y="3529584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freemium limits from Day 1. 14-day Pro trial. B2B enterprise revenue from Month 6 to diversify income streams.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347472" y="4279392"/>
            <a:ext cx="8366760" cy="768096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4443984"/>
            <a:ext cx="438912" cy="438912"/>
          </a:xfrm>
          <a:prstGeom prst="ellipse">
            <a:avLst/>
          </a:prstGeom>
          <a:solidFill>
            <a:srgbClr val="3FB950">
              <a:alpha val="2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4439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51560" y="4389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from incumbents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051560" y="4709160"/>
            <a:ext cx="658368" cy="219456"/>
          </a:xfrm>
          <a:prstGeom prst="roundRect">
            <a:avLst>
              <a:gd name="adj" fmla="val 16667"/>
            </a:avLst>
          </a:prstGeom>
          <a:solidFill>
            <a:srgbClr val="3FB950"/>
          </a:solidFill>
          <a:ln/>
        </p:spPr>
      </p:sp>
      <p:sp>
        <p:nvSpPr>
          <p:cNvPr id="40" name="Text 38"/>
          <p:cNvSpPr/>
          <p:nvPr/>
        </p:nvSpPr>
        <p:spPr>
          <a:xfrm>
            <a:off x="1051560" y="470916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91840" y="44805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657600" y="4370832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+ data moat. LinkedIn/Indeed are slow and bloated. We win on AI depth, outcome learning, and hyper-focused UX.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0" y="-731520"/>
            <a:ext cx="5029200" cy="5029200"/>
          </a:xfrm>
          <a:prstGeom prst="ellipse">
            <a:avLst/>
          </a:prstGeom>
          <a:ln w="19050">
            <a:solidFill>
              <a:srgbClr val="7B5EA7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ln w="19050">
            <a:solidFill>
              <a:srgbClr val="00D4FF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reverse recruiting market is broken.
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LaunchVector </a:t>
            </a:r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 it.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7472" y="182880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947672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B4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50M+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38912" y="2532888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seekers globally using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outdated manual methods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82880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947672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$1.5B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651760" y="2532888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serviceable addressable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 AI career tools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73168" y="182880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947672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864608" y="2532888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CVs never seen by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recruiter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86016" y="182880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77456" y="1947672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7077456" y="2532888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cheaper than human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recruiting firms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340156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3785616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Finalise CTO / AI engineer co-founder hire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45920" y="40325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Apply to YC, EF, or Antler accelerator cohort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45920" y="4279392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Secure seed funding ($1.5M – $2.5M)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45920" y="4526280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Begin Sprint 1 — job ingestion &amp; matching pipeline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LaunchVector  -  Built to get you hired.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LaunchVector Product Roadmap 2026-2027</dc:title>
  <dc:subject>PptxGenJS Presentation</dc:subject>
  <dc:creator>PptxGenJS</dc:creator>
  <cp:lastModifiedBy>PptxGenJS</cp:lastModifiedBy>
  <cp:revision>1</cp:revision>
  <dcterms:created xsi:type="dcterms:W3CDTF">2026-05-08T07:45:11Z</dcterms:created>
  <dcterms:modified xsi:type="dcterms:W3CDTF">2026-05-08T07:45:11Z</dcterms:modified>
</cp:coreProperties>
</file>