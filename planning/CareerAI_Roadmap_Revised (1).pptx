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(£k)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M4</c:v>
                  </c:pt>
                  <c:pt idx="1">
                    <c:v>M5</c:v>
                  </c:pt>
                  <c:pt idx="2">
                    <c:v>M6</c:v>
                  </c:pt>
                  <c:pt idx="3">
                    <c:v>M7</c:v>
                  </c:pt>
                  <c:pt idx="4">
                    <c:v>M8</c:v>
                  </c:pt>
                  <c:pt idx="5">
                    <c:v>M9</c:v>
                  </c:pt>
                  <c:pt idx="6">
                    <c:v>M10</c:v>
                  </c:pt>
                  <c:pt idx="7">
                    <c:v>M11</c:v>
                  </c:pt>
                  <c:pt idx="8">
                    <c:v>M12</c:v>
                  </c:pt>
                  <c:pt idx="9">
                    <c:v>M15</c:v>
                  </c:pt>
                  <c:pt idx="10">
                    <c:v>M18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18</c:v>
                </c:pt>
                <c:pt idx="4">
                  <c:v>22</c:v>
                </c:pt>
                <c:pt idx="5">
                  <c:v>30</c:v>
                </c:pt>
                <c:pt idx="6">
                  <c:v>38</c:v>
                </c:pt>
                <c:pt idx="7">
                  <c:v>48</c:v>
                </c:pt>
                <c:pt idx="8">
                  <c:v>60</c:v>
                </c:pt>
                <c:pt idx="9">
                  <c:v>75</c:v>
                </c:pt>
                <c:pt idx="10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  ·  2026–2027  ·  REVISED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Investor-Aligned Product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53035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· Funded · Fundable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IMPROVEMENTS OVER ORIGINAL DECK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382219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killer feature focus pre-PMF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Paid tiers moved to Month 5 (was Month 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Seed raise right-sized to £1.5–2M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CTO hire gated as prerequisite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flywheel &amp; moat strategy defined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B2B separated into dedicated Phase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005840"/>
            <a:ext cx="2103120" cy="1143000"/>
          </a:xfrm>
          <a:prstGeom prst="rect">
            <a:avLst/>
          </a:prstGeom>
          <a:solidFill>
            <a:srgbClr val="141B4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0789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5.5/10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1664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Rating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2331720"/>
            <a:ext cx="2103120" cy="1143000"/>
          </a:xfrm>
          <a:prstGeom prst="rect">
            <a:avLst/>
          </a:prstGeom>
          <a:solidFill>
            <a:srgbClr val="141B4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240487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Gaps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29900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657600"/>
            <a:ext cx="2103120" cy="1143000"/>
          </a:xfrm>
          <a:prstGeom prst="rect">
            <a:avLst/>
          </a:prstGeom>
          <a:solidFill>
            <a:srgbClr val="141B4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7307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4315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Fixes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Seed Investors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EVALUATION: GAPS IDENTIFIED &amp; HOW THIS ROADMAP ADDRESSES THEM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24528" cy="1353312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8869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50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·  No CTO / Tech Lead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8328" y="112471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CTO hire listed as 'next step'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8328" y="143560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CTO hire is now a hard prerequisite — fundraising does not begin until technical co-founder secured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90872" y="777240"/>
            <a:ext cx="4224528" cy="1353312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869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850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·  Feature Sprawl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0600" y="112471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6 surfaces launched simultaneously pre-PMF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00600" y="143560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Phase 1 narrows to ONE killer feature: Recruiter Warm Intros (most defensible). Auto-apply moved to Phase 2 post-TOS resolution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24528" cy="1353312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33172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95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Monetisation Too Late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" y="2569464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Paid tiers at Month 10, break-even Month 8 — contradictory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" y="2880360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Paid tiers launch Month 5 alongside public beta. Break-even target moved to Month 12 with conservative MRR ramp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90872" y="2221992"/>
            <a:ext cx="4224528" cy="1353312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3172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2295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Under-Capitalised Raise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569464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£500k–750k for a £2–4M plan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2880360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Seed ask revised to £1.5–2M. Full budget model included with engineer headcount, BD hire, and 18-month runway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666744"/>
            <a:ext cx="4224528" cy="1353312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77647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39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No Competitive Moat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" y="4014216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Feature parity matrix only — no structural advantage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8328" y="4325112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Data flywheel defined: every placement outcome builds proprietary match signal competitors cannot replicate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90872" y="3666744"/>
            <a:ext cx="4224528" cy="1353312"/>
          </a:xfrm>
          <a:prstGeom prst="rect">
            <a:avLst/>
          </a:prstGeom>
          <a:solidFill>
            <a:srgbClr val="EEF3FD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7647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3739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GTM Gap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4014216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10k users by M9 with no channel strategy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4325112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Explicit CAC channels: LinkedIn/TikTok creators, Reddit communities, university partnerships, SEO content plan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STRATEGIC PIVOT: ONE KILLER FEATURE BEFORE FULL STACK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4206240"/>
          </a:xfrm>
          <a:prstGeom prst="rect">
            <a:avLst/>
          </a:prstGeom>
          <a:solidFill>
            <a:srgbClr val="EEF3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NARROW FOCUS WINS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Signal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with strong retention tells investors you understand the customer. Six mediocre features signal you don't.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2194560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£1.5M seed can build one excellent feature and acquire 10k users. It cannot build six features to the same quality.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063240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63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Narrative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192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the best way for UK job seekers to get recruiter intros" is fundable. "We do everything" is not pre-revenue.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3931920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via Playwright has near-certain ToS blocking at scale. Recruiter intros are a human network — defensible, scalable, unique.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749808"/>
            <a:ext cx="4206240" cy="4206240"/>
          </a:xfrm>
          <a:prstGeom prst="rect">
            <a:avLst/>
          </a:prstGeom>
          <a:solidFill>
            <a:srgbClr val="141B4D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961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PHASE 1 FEATURE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2070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46320" y="2212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most defensible beachhead: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542032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ToS risk — human network, not bot automation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#1 pain: applications disappear into the black hole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effects: every recruiter added makes the product more valuable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moat: CareerAI learns which recruiter-role pairs convert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 path: recruiters pay for quality matched candidates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LinkedIn equivalent at consumer price points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Auto-apply, CV gen, interview coach, salary intel → Phase 2 &amp; 3 (post-PMF)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PMF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6217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  ·  Prerequisite: CTO hired before Month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040880" y="137160"/>
            <a:ext cx="192024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828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GATING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86600" y="640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does not begin until: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CTO/Tech co-founder 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£1.5M seed term sheet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customer discovery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interviews complete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005840"/>
            <a:ext cx="3977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005840"/>
            <a:ext cx="3977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005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32688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Network Build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664208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2,000 UK recruiters in Month 1–2 via outreach, LinkedIn DMs, referral incentives. Dedicated BD hire (budgeted). Track intro conversion rates from day 1.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83480" y="1005840"/>
            <a:ext cx="3977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005840"/>
            <a:ext cx="3977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005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BUILDER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93208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Engine (Job → Recruiter)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93208" y="1664208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jobs via Adzuna/Reed APIs. Proprietary scoring: match candidate profile to recruiter specialty + role. Store all match→intro→outcome data for flywheel.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2907792"/>
            <a:ext cx="3977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2907792"/>
            <a:ext cx="3977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07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32688" y="3255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 &amp; CV Gen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56616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onboarding (&lt;5 min). LLM generates ATS-optimised CV per role. Minimal but polished — this is the hook to activate users.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2907792"/>
            <a:ext cx="3977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907792"/>
            <a:ext cx="3977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907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93208" y="3255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&amp; Community Launch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93208" y="356616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landing page Week 1. Target 2,000 waitlist signups via Reddit (r/UKJobs), LinkedIn creators, university careers teams. Referral loop for virality.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" y="4709160"/>
            <a:ext cx="82296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CTO hired (M0)     →  2,000 recruiter contacts (M2)     →  500 beta users (M3)     →  First paying cohort (M4 — £5k MRR target)     →  10 verified placements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Revenue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6217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  ·  Paid tiers launch Month 5  ·  Public launch Month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932688"/>
            <a:ext cx="3200400" cy="3108960"/>
          </a:xfrm>
          <a:prstGeom prst="rect">
            <a:avLst/>
          </a:prstGeom>
          <a:solidFill>
            <a:srgbClr val="141B4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005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 — MONTH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2926080" cy="713232"/>
          </a:xfrm>
          <a:prstGeom prst="rect">
            <a:avLst/>
          </a:prstGeom>
          <a:solidFill>
            <a:srgbClr val="141B4D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08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408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007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intros/mo · 1 CV template · Basic match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2194560"/>
            <a:ext cx="2926080" cy="713232"/>
          </a:xfrm>
          <a:prstGeom prst="rect">
            <a:avLst/>
          </a:prstGeom>
          <a:solidFill>
            <a:srgbClr val="164E63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31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★ Popular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231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£19/mo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23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intros/mo · All CV templates · Interview coach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4400" y="3017520"/>
            <a:ext cx="2926080" cy="713232"/>
          </a:xfrm>
          <a:prstGeom prst="rect">
            <a:avLst/>
          </a:prstGeom>
          <a:solidFill>
            <a:srgbClr val="141B4D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54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054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£49/mo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467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Salary intel · Priority recruiter queue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target: £10k MRR by Month 6 · £30k MRR by Month 9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51960" y="932688"/>
            <a:ext cx="4663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932688"/>
            <a:ext cx="73152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987552"/>
            <a:ext cx="4407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(Post-TOS Validation)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16552" y="1261872"/>
            <a:ext cx="4407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only after PoC confirms block rate &lt;10% on target boards. Browser-extension model (user's own session) explored as safer alternative to centralised Playwright.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51960" y="1938528"/>
            <a:ext cx="4663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1938528"/>
            <a:ext cx="73152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1993392"/>
            <a:ext cx="4407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GTM: Explicit CAC Channels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16552" y="2267712"/>
            <a:ext cx="4407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LinkedIn/TikTok creator partnerships (job-search content) ② Reddit seeding (r/UKJobs, r/CSCareerQuestions) ③ University careers team pilots ④ SEO content around UK job search queries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51960" y="2944368"/>
            <a:ext cx="4663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1960" y="2944368"/>
            <a:ext cx="73152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6552" y="2999232"/>
            <a:ext cx="4407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Coach + Salary Intel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16552" y="3273552"/>
            <a:ext cx="4407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Month 7 as retention features for Pro/Premium. Both extend the product session beyond active job search — reduces episodic churn.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51960" y="3950208"/>
            <a:ext cx="4663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3950208"/>
            <a:ext cx="73152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4005072"/>
            <a:ext cx="4407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Apps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16552" y="4279392"/>
            <a:ext cx="4407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launch Month 8. Prioritised after web PMF validated. React Native for shared codebase efficiency.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22960" y="4736592"/>
            <a:ext cx="82296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736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Paid tiers live (M5)     →  Public launch: 5k users (M6)     →  £30k MRR (M9)     →  4.5★ App Store rating     →  50+ verified job placements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B2B &amp; Series A Readiness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10–18  ·  B2B treated as separate product stream with dedicated headcount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960120"/>
            <a:ext cx="263347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960120"/>
            <a:ext cx="2633472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60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Scale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1417320"/>
            <a:ext cx="24140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25,000+ registered users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£75k MRR by Month 15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 leader in recruiter-intro category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model: retention hooks for employed users (career health tracking, salary alerts)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prep (Month 16) — EU only, Series A story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93592" y="960120"/>
            <a:ext cx="263347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960120"/>
            <a:ext cx="263347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960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 Stream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03320" y="1417320"/>
            <a:ext cx="24140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B2B sales hire (Month 10)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tool: ATS integrations + pipeline mgmt for agencies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listings: featured roles + AI-matched shortlists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licences: white-label platform for careers services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target: £20k MRR by Month 15 (alongside consumer)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64224" y="960120"/>
            <a:ext cx="263347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960120"/>
            <a:ext cx="2633472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960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Preparation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73952" y="1417320"/>
            <a:ext cx="24140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£95k MRR (£1.14M ARR) at Series A pitch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outcome data: 500+ verified job offers via CareerAI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 proof: show match score → placement rate correlation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evidence: recruiter NPS, employer repeat purchase rate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target: £6–8M Series A at Month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18-MONTH ROADMAP TIMELINE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8229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749808"/>
            <a:ext cx="2286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7498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107899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749808"/>
            <a:ext cx="2926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7498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0" y="1078992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749808"/>
            <a:ext cx="22860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7498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35240" y="107899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417320"/>
            <a:ext cx="1005840" cy="749808"/>
          </a:xfrm>
          <a:prstGeom prst="rect">
            <a:avLst/>
          </a:prstGeom>
          <a:solidFill>
            <a:srgbClr val="EEF3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4173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1508760"/>
            <a:ext cx="118872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08176" y="1508760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hired (M0)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33472" y="1508760"/>
            <a:ext cx="1188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0048" y="1508760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hire (M3)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895344" y="1508760"/>
            <a:ext cx="1188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1508760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engineer (M4)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57216" y="1508760"/>
            <a:ext cx="11887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1508760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sales hire (M10)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19088" y="1508760"/>
            <a:ext cx="11887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1508760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 (M12)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313432"/>
            <a:ext cx="1005840" cy="749808"/>
          </a:xfrm>
          <a:prstGeom prst="rect">
            <a:avLst/>
          </a:prstGeom>
          <a:solidFill>
            <a:srgbClr val="EEF3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313432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71600" y="2404872"/>
            <a:ext cx="8915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launch (M1)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36292" y="2404872"/>
            <a:ext cx="8915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2868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network 2k (M2)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00984" y="2404872"/>
            <a:ext cx="8915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beta 500 (M3)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265676" y="2404872"/>
            <a:ext cx="8915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02252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 live (M5)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230368" y="2404872"/>
            <a:ext cx="8915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66944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(M6)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195060" y="2404872"/>
            <a:ext cx="8915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1636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(M8)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59752" y="2404872"/>
            <a:ext cx="89154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product (M10)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124444" y="2404872"/>
            <a:ext cx="89154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1020" y="2404872"/>
            <a:ext cx="8183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prep (M16)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3209544"/>
            <a:ext cx="1005840" cy="749808"/>
          </a:xfrm>
          <a:prstGeom prst="rect">
            <a:avLst/>
          </a:prstGeom>
          <a:solidFill>
            <a:srgbClr val="EEF3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209544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371600" y="3300984"/>
            <a:ext cx="1188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08176" y="3300984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£5k MRR (M4)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633472" y="3300984"/>
            <a:ext cx="11887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70048" y="3300984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£10k MRR (M6)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895344" y="3300984"/>
            <a:ext cx="11887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0" y="3300984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£30k MRR (M9)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157216" y="3300984"/>
            <a:ext cx="118872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93792" y="3300984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(M12)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19088" y="3300984"/>
            <a:ext cx="118872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55664" y="3300984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£75k MRR (M15)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680960" y="3300984"/>
            <a:ext cx="118872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17536" y="3300984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 (M18)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4105656"/>
            <a:ext cx="1005840" cy="749808"/>
          </a:xfrm>
          <a:prstGeom prst="rect">
            <a:avLst/>
          </a:prstGeom>
          <a:solidFill>
            <a:srgbClr val="EEF3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10565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71600" y="4197096"/>
            <a:ext cx="118872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08176" y="4197096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discovery interviews (M0)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633472" y="4197096"/>
            <a:ext cx="1188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70048" y="4197096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placements (M4)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95344" y="4197096"/>
            <a:ext cx="11887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31920" y="4197096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signal (M6)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157216" y="4197096"/>
            <a:ext cx="11887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93792" y="4197096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placements (M9)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419088" y="4197096"/>
            <a:ext cx="118872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55664" y="4197096"/>
            <a:ext cx="1115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placements (M15)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FINANCIAL MODEL — RIGHT-SIZED FOR STATED AMBITIONS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06240" cy="20116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ORIGINAL (PROBLEMATIC)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Raise: £500k–750k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requires: £2–4M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Month 8 (pre-revenue)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tiers: Month 10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budget: ~£225k (1 engineer, London)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out of runway before PMF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713232"/>
            <a:ext cx="4206240" cy="20116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REVISED (INVESTOR-READY)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115568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Raise: £1.5–2M seed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aligns to raise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Month 12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tiers: Month 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2 senior + 1 mid engineer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18-month runway with headroom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8529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SEED BUDGET (£1.75M MID)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122895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(3 hires)  42%  £735k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468173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84448"/>
            <a:ext cx="3749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Infra / APIs  16%  £280k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526694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CAC  18%  £315k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4133088"/>
            <a:ext cx="351130" cy="201168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33088"/>
            <a:ext cx="3749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/ Recruiter network  12%  £210k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407408"/>
            <a:ext cx="204826" cy="20116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3749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 7%  £122k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681728"/>
            <a:ext cx="14630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GDPR  5%  £88k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8529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GROWTH TRAJECTORY (REVISED)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709160" y="3182112"/>
          <a:ext cx="4206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DEFENSIBLE MOAT: DATA FLYWHEEL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placement creates a data asset that no competitor — including LinkedIn — can replicate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103120" cy="65836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9601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applies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CareerAI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577840" y="1828800"/>
            <a:ext cx="2103120" cy="65836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8288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94960" y="3291840"/>
            <a:ext cx="2103120" cy="65836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329184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recorded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4069080"/>
            <a:ext cx="2103120" cy="65836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40690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/ rejection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captured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05840" y="3291840"/>
            <a:ext cx="2103120" cy="65836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9184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05840" y="1828800"/>
            <a:ext cx="2103120" cy="65836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8288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matches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2468880" cy="12801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031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051560"/>
            <a:ext cx="1965960" cy="388620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097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59168" y="16916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Precision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59168" y="194767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placement correlation, improving over time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059168" y="2404872"/>
            <a:ext cx="1719072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24963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Trust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59168" y="275234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&amp; repeat intro requests — network stickiness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059168" y="3209544"/>
            <a:ext cx="1719072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330098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Database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59168" y="355701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verified offers by Series A — unmatched training signal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59168" y="4014216"/>
            <a:ext cx="1719072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410565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Demand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59168" y="43616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request CareerAI candidates directly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REVISED MITIGATIONS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2452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13232"/>
            <a:ext cx="422452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·  Auto-apply ToS Blocking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4241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"Multi-source aggregation + cookies" — insufficient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Auto-apply is NOT Phase 1. PoC first: test 2–3 boards, measure block rates. If &gt;10% blocked, pivot to browser-extension model (user's own session). API partnership outreach to Reed/Adzuna from Month 1.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90872" y="713232"/>
            <a:ext cx="422452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713232"/>
            <a:ext cx="422452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71323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·  No Technical Co-Founder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82312" y="104241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Listed as a 'next step' post-funding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82312" y="135331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HARD GATE: Fundraising does not begin until CTO signed. Recommended path: EF/Antler for co-founder matching + initial capital simultaneously.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176272"/>
            <a:ext cx="422452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176272"/>
            <a:ext cx="422452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7627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LinkedIn Competitive Threat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50545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Rated 'Low' — severe misjudgement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" y="281635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Rated HIGH. Mitigation: CareerAI's moat is warm intro data and placement outcomes, not feature breadth. LinkedIn has recruiter data but not verified outcome data. Narrative: 'We are the outcome layer LinkedIn doesn't have.'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90872" y="2176272"/>
            <a:ext cx="422452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90872" y="2176272"/>
            <a:ext cx="422452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17627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Episodic Churn (Job Search)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2312" y="250545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Not addressed — churn model absent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82312" y="281635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Model explicitly: avg. 4-month subscription, 40% churn when hired. Retention hook: Career Health dashboard for employed users (salary alerts, market benchmarks). Re-activation campaigns for former users.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639312"/>
            <a:ext cx="422452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39312"/>
            <a:ext cx="422452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931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Zero User Validation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96849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No waitlist, no discovery interviews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27939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Week 1: landing page + waitlist. Month 0: 50 structured discovery interviews with active UK job seekers. Waitlist target: 2,000 before beta. This creates demand signal and early training data.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90872" y="3639312"/>
            <a:ext cx="422452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3639312"/>
            <a:ext cx="422452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639312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GDPR / Data Privacy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82312" y="3968496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Not addressed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82312" y="427939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Revised: Appoint data protection officer Month 1. GDPR compliance plan in budget (£88k legal). Explicit consent flow for CV storage and job application submission. ICO registration before beta.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£1.5–2M Seed Round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 ·  Series A ready at Month 18  ·  UK beachhead, EU optionality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5303520" cy="3063240"/>
          </a:xfrm>
          <a:prstGeom prst="rect">
            <a:avLst/>
          </a:prstGeom>
          <a:solidFill>
            <a:srgbClr val="141B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SEED INVESTORS GET AT SERIES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£1.14M ARR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3865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revenue from dual B2C + B2B streams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25k+ 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28895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measurable match→placement outcome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Placements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33924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dataset no competitor can replicate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 Leader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38953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recruiter warm-intro category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Path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43982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£6–8M at 6–8x ARR multiple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274320"/>
            <a:ext cx="2926080" cy="4663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474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44768" y="1115568"/>
            <a:ext cx="320040" cy="3200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10528" y="10789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EF / Antler / YC for co-founder matching + initial capital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44768" y="1755648"/>
            <a:ext cx="320040" cy="3200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10528" y="171907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waitlist landing page — target 2,000 signups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44768" y="2395728"/>
            <a:ext cx="320040" cy="3200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10528" y="235915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50 customer discovery interviews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44768" y="3035808"/>
            <a:ext cx="320040" cy="3200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035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10528" y="299923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test auto-apply on 2 job boards, measure block 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44768" y="3675888"/>
            <a:ext cx="320040" cy="3200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3675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10528" y="363931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CTO / technical co-founder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44768" y="4315968"/>
            <a:ext cx="320040" cy="3200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4315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42793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seed fundraise with complete team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 ·  Built to get you hired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CareerAI Strategic Roadmap 2026–2027 (Revised)</dc:title>
  <dc:subject>PptxGenJS Presentation</dc:subject>
  <dc:creator>PptxGenJS</dc:creator>
  <cp:lastModifiedBy>PptxGenJS</cp:lastModifiedBy>
  <cp:revision>1</cp:revision>
  <dcterms:created xsi:type="dcterms:W3CDTF">2026-05-08T00:37:01Z</dcterms:created>
  <dcterms:modified xsi:type="dcterms:W3CDTF">2026-05-08T00:37:01Z</dcterms:modified>
</cp:coreProperties>
</file>