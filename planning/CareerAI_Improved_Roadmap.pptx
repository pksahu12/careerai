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Recurring Revenue (£K)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(£K)</c:v>
                </c:pt>
              </c:strCache>
            </c:strRef>
          </c:tx>
          <c:spPr>
            <a:solidFill>
              <a:srgbClr val="00B5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M3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M15</c:v>
                  </c:pt>
                  <c:pt idx="5">
                    <c:v>M18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20</c:v>
                </c:pt>
                <c:pt idx="2">
                  <c:v>49</c:v>
                </c:pt>
                <c:pt idx="3">
                  <c:v>120</c:v>
                </c:pt>
                <c:pt idx="4">
                  <c:v>280</c:v>
                </c:pt>
                <c:pt idx="5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94360" y="138988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 2026–2027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5029200" cy="36576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1284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 Upgraded  ·  LaunchVector-Informed  ·  Venture-Scale Thinking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1920240" cy="1417320"/>
          </a:xfrm>
          <a:prstGeom prst="rect">
            <a:avLst/>
          </a:prstGeom>
          <a:solidFill>
            <a:srgbClr val="1A2B40"/>
          </a:solidFill>
          <a:ln w="12700">
            <a:solidFill>
              <a:srgbClr val="00B5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834640"/>
            <a:ext cx="1920240" cy="64008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4436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834640"/>
            <a:ext cx="1920240" cy="1417320"/>
          </a:xfrm>
          <a:prstGeom prst="rect">
            <a:avLst/>
          </a:prstGeom>
          <a:solidFill>
            <a:srgbClr val="1A2B40"/>
          </a:solidFill>
          <a:ln w="12700">
            <a:solidFill>
              <a:srgbClr val="7FD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2834640"/>
            <a:ext cx="1920240" cy="64008"/>
          </a:xfrm>
          <a:prstGeom prst="rect">
            <a:avLst/>
          </a:prstGeom>
          <a:solidFill>
            <a:srgbClr val="7FD8D4"/>
          </a:solidFill>
          <a:ln w="12700">
            <a:solidFill>
              <a:srgbClr val="7FD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294436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2834640"/>
            <a:ext cx="1920240" cy="1417320"/>
          </a:xfrm>
          <a:prstGeom prst="rect">
            <a:avLst/>
          </a:prstGeom>
          <a:solidFill>
            <a:srgbClr val="1A2B4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2834640"/>
            <a:ext cx="1920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94436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2834640"/>
            <a:ext cx="1920240" cy="1417320"/>
          </a:xfrm>
          <a:prstGeom prst="rect">
            <a:avLst/>
          </a:prstGeom>
          <a:solidFill>
            <a:srgbClr val="1A2B40"/>
          </a:solidFill>
          <a:ln w="12700">
            <a:solidFill>
              <a:srgbClr val="3DB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2834640"/>
            <a:ext cx="1920240" cy="64008"/>
          </a:xfrm>
          <a:prstGeom prst="rect">
            <a:avLst/>
          </a:prstGeom>
          <a:solidFill>
            <a:srgbClr val="3DBE6C"/>
          </a:solidFill>
          <a:ln w="12700">
            <a:solidFill>
              <a:srgbClr val="3DBE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944368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Confidential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Strategic Upgrades to the Roadmap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1261872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Outcome Learning Loop (NEW)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3913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becomes training data. ML model predicts which jobs, resume variants &amp; messages convert — compounding moat competitors can't replicate without years of data.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64008" cy="1261872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96112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Revised Pricing — 3-Tier + Enterprise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225296"/>
            <a:ext cx="3913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£0 · Pro £49 · Executive £99/mo. Enterprise outplacement at £2K–5K/employee. Closes the gap vs £1.5K–£10K human reverse recruiters.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64008" cy="1261872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B2B Outplacement Track (Months 6–12)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15184"/>
            <a:ext cx="3913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directly to CHROs at companies running layoffs. Multi-year contracts reduce churn risk and provide predictable ARR — not just B2C subscription revenue.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94560"/>
            <a:ext cx="64008" cy="1261872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28600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Sharpened Beachhead — UK Tech Layoffs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615184"/>
            <a:ext cx="3913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ICP to recently laid-off UK tech professionals. Highest intent, highest WTP, fastest word-of-mouth. Channels: Blind UK, Fishbowl, LinkedIn communities.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84448"/>
            <a:ext cx="64008" cy="1261872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7588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Validation-First Before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005072"/>
            <a:ext cx="3913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landing page live Week 1. Prove willingness to pay at £49/mo before hiring engineers. 100 signups in 2 weeks = green light to build. Fail fast = save months.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844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84448"/>
            <a:ext cx="64008" cy="1261872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75888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Risk Mitigation: ATS Blocking Strategy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005072"/>
            <a:ext cx="3913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randomisation, API partnerships (Greenhouse/Lever official), human-assisted fallback. 50+ ATS platforms = no single point of failure. Target &gt;90% submission rate.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— Updated Positioning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097280"/>
                <a:gridCol w="10972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 &amp; Jill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AIApply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CareerAI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8C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Job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6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B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B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6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Smart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8C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6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6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6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50+ 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8C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Proprietary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8C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 Mgr Intros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6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Warm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8C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Coach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66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B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AI 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8C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/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Outplacement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8C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 (Pro)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B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B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B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B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8C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4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Data flywheel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8C8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6360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CareerAI is the only platform combining outcome learning + B2B enterprise + warm intros — making it venture-scalable where others are not.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MVP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4069080" cy="1389888"/>
          </a:xfrm>
          <a:prstGeom prst="rect">
            <a:avLst/>
          </a:prstGeom>
          <a:solidFill>
            <a:srgbClr val="1A2B40"/>
          </a:solidFill>
          <a:ln w="12700">
            <a:solidFill>
              <a:srgbClr val="00B5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64208"/>
            <a:ext cx="4069080" cy="54864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764792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Validate Before Building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2103120"/>
            <a:ext cx="38221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landing page live Week 1. Target 100 sign-ups before first engineering sprint. If &lt;10% convert at £49, pivot messaging — not product. This is the lean test.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664208"/>
            <a:ext cx="4069080" cy="1389888"/>
          </a:xfrm>
          <a:prstGeom prst="rect">
            <a:avLst/>
          </a:prstGeom>
          <a:solidFill>
            <a:srgbClr val="1A2B4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64208"/>
            <a:ext cx="40690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4336" y="1764792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Matching + CV Gen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74336" y="2103120"/>
            <a:ext cx="38221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14M+ listings via Adzuna, Reed &amp; Greenhouse APIs. LLM generates ATS-optimised CV + cover letter per JD in &lt;30 seconds. Target 80% match precision by Week 6.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069080" cy="1389888"/>
          </a:xfrm>
          <a:prstGeom prst="rect">
            <a:avLst/>
          </a:prstGeom>
          <a:solidFill>
            <a:srgbClr val="1A2B40"/>
          </a:solidFill>
          <a:ln w="12700">
            <a:solidFill>
              <a:srgbClr val="3DB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00400"/>
            <a:ext cx="4069080" cy="54864"/>
          </a:xfrm>
          <a:prstGeom prst="rect">
            <a:avLst/>
          </a:prstGeom>
          <a:solidFill>
            <a:srgbClr val="3DBE6C"/>
          </a:solidFill>
          <a:ln w="12700">
            <a:solidFill>
              <a:srgbClr val="3DBE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300984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Auto-Apply Engine (Beta)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" y="3639312"/>
            <a:ext cx="38221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automation on 5 ATS platforms: Greenhouse, Lever, Workday, Reed, Indeed. CAPTCHA handling + session management. Target &gt;90% successful submission rate.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4069080" cy="1389888"/>
          </a:xfrm>
          <a:prstGeom prst="rect">
            <a:avLst/>
          </a:prstGeom>
          <a:solidFill>
            <a:srgbClr val="1A2B40"/>
          </a:solidFill>
          <a:ln w="12700">
            <a:solidFill>
              <a:srgbClr val="7FD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4069080" cy="54864"/>
          </a:xfrm>
          <a:prstGeom prst="rect">
            <a:avLst/>
          </a:prstGeom>
          <a:solidFill>
            <a:srgbClr val="7FD8D4"/>
          </a:solidFill>
          <a:ln w="12700">
            <a:solidFill>
              <a:srgbClr val="7FD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3300984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Start Collecting Outcome Data NOW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74336" y="3639312"/>
            <a:ext cx="382219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application: {candidate_profile, JD, resume_version, ATS, response, interview_invite}. Day 1 data collection builds the ML training set that becomes the moat.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727448"/>
            <a:ext cx="8321040" cy="274320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7274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 500 beta users  ·  NPS &gt; 40  ·  &gt;90% application success rate  ·  5 ATS integrations  ·  £5K MRR by Month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Growth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5–9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5029200" cy="713232"/>
          </a:xfrm>
          <a:prstGeom prst="rect">
            <a:avLst/>
          </a:prstGeom>
          <a:solidFill>
            <a:srgbClr val="1A2B40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71907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Interview Intelligence Module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4709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agent: real-time STAR framework scoring, filler word detection, confidence analysis. Company-specific question databases from Glassdoor/Blind/Reddit.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5029200" cy="713232"/>
          </a:xfrm>
          <a:prstGeom prst="rect">
            <a:avLst/>
          </a:prstGeom>
          <a:solidFill>
            <a:srgbClr val="1A2B40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52374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💷  Salary Intelligence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816352"/>
            <a:ext cx="4709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 benchmarking from 100K+ UK job postings. Role / level / location / stage breakdown. AI negotiation scripts generated per offer received.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5029200" cy="713232"/>
          </a:xfrm>
          <a:prstGeom prst="rect">
            <a:avLst/>
          </a:prstGeom>
          <a:solidFill>
            <a:srgbClr val="1A2B40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332841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Hiring Manager Warm Intros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621024"/>
            <a:ext cx="4709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 traversal: mutual connections → alumni paths → warm intro requests drafted and sent automatically. Target: 2x interview rate vs cold-apply only.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4078224"/>
            <a:ext cx="5029200" cy="713232"/>
          </a:xfrm>
          <a:prstGeom prst="rect">
            <a:avLst/>
          </a:prstGeom>
          <a:solidFill>
            <a:srgbClr val="1A2B40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" y="41330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Outcome Learning Loop V1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425696"/>
            <a:ext cx="4709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ML model trained on beta data. Resume optimizer (keyword combos that correlate with interviews). Job-match ranker personalised per candidate profile.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1664208"/>
            <a:ext cx="2926080" cy="713232"/>
          </a:xfrm>
          <a:prstGeom prst="rect">
            <a:avLst/>
          </a:prstGeom>
          <a:solidFill>
            <a:srgbClr val="1A2B40"/>
          </a:solidFill>
          <a:ln w="12700">
            <a:solidFill>
              <a:srgbClr val="00B5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1700784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78040" y="1773936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0" y="2468880"/>
            <a:ext cx="2926080" cy="713232"/>
          </a:xfrm>
          <a:prstGeom prst="rect">
            <a:avLst/>
          </a:prstGeom>
          <a:solidFill>
            <a:srgbClr val="1A2B4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0" y="2505456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£49K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78040" y="257860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 9)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3273552"/>
            <a:ext cx="2926080" cy="713232"/>
          </a:xfrm>
          <a:prstGeom prst="rect">
            <a:avLst/>
          </a:prstGeom>
          <a:solidFill>
            <a:srgbClr val="1A2B40"/>
          </a:solidFill>
          <a:ln w="12700">
            <a:solidFill>
              <a:srgbClr val="3DB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3310128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B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78040" y="3383280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52160" y="4078224"/>
            <a:ext cx="2926080" cy="713232"/>
          </a:xfrm>
          <a:prstGeom prst="rect">
            <a:avLst/>
          </a:prstGeom>
          <a:solidFill>
            <a:srgbClr val="1A2B40"/>
          </a:solidFill>
          <a:ln w="12700">
            <a:solidFill>
              <a:srgbClr val="7FD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0" y="4114800"/>
            <a:ext cx="1188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178040" y="4187952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727448"/>
            <a:ext cx="8321040" cy="274320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274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 ProductHunt launch (Month 5)  ·  Seed raise £1.5–2M (Month 6)  ·  50 documented job placements  ·  30+ ATS integrations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DBE6C"/>
          </a:solidFill>
          <a:ln w="12700">
            <a:solidFill>
              <a:srgbClr val="3DBE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DB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Monetise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Pricing Model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029968"/>
            <a:ext cx="1993392" cy="2377440"/>
          </a:xfrm>
          <a:prstGeom prst="rect">
            <a:avLst/>
          </a:prstGeom>
          <a:solidFill>
            <a:srgbClr val="1A2B40"/>
          </a:solidFill>
          <a:ln w="12700">
            <a:solidFill>
              <a:srgbClr val="7180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029968"/>
            <a:ext cx="1993392" cy="54864"/>
          </a:xfrm>
          <a:prstGeom prst="rect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8483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450592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£0/mo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9077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matches/day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1821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CV template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4564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auto-applies/mo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730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tips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51760" y="2029968"/>
            <a:ext cx="1993392" cy="2377440"/>
          </a:xfrm>
          <a:prstGeom prst="rect">
            <a:avLst/>
          </a:prstGeom>
          <a:solidFill>
            <a:srgbClr val="1A2B40"/>
          </a:solidFill>
          <a:ln w="12700">
            <a:solidFill>
              <a:srgbClr val="00B5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2029968"/>
            <a:ext cx="1993392" cy="54864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08483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450592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£49/mo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090672" y="2834640"/>
            <a:ext cx="1115568" cy="210312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2834640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88920" y="31089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matches/day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88920" y="33832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CV/CL templates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88920" y="3657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auto-applies/mo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88920" y="39319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Interview coach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029968"/>
            <a:ext cx="1993392" cy="2377440"/>
          </a:xfrm>
          <a:prstGeom prst="rect">
            <a:avLst/>
          </a:prstGeom>
          <a:solidFill>
            <a:srgbClr val="1A2B4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029968"/>
            <a:ext cx="199339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08483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2450592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£99/mo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37760" y="29077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Unlimited applies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37760" y="31821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Hiring mgr intros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34564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intelligence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3730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human call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9440" y="2029968"/>
            <a:ext cx="1993392" cy="2377440"/>
          </a:xfrm>
          <a:prstGeom prst="rect">
            <a:avLst/>
          </a:prstGeom>
          <a:solidFill>
            <a:srgbClr val="1A2B40"/>
          </a:solidFill>
          <a:ln w="12700">
            <a:solidFill>
              <a:srgbClr val="3DB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49440" y="2029968"/>
            <a:ext cx="1993392" cy="54864"/>
          </a:xfrm>
          <a:prstGeom prst="rect">
            <a:avLst/>
          </a:prstGeom>
          <a:solidFill>
            <a:srgbClr val="3DBE6C"/>
          </a:solidFill>
          <a:ln w="12700">
            <a:solidFill>
              <a:srgbClr val="3DBE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208483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2450592"/>
            <a:ext cx="1810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B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86600" y="29077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Outplacement program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86600" y="31821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HRIS integration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86600" y="34564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 ops + analytics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86600" y="3730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Dedicated mgr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4526280"/>
            <a:ext cx="8321040" cy="475488"/>
          </a:xfrm>
          <a:prstGeom prst="rect">
            <a:avLst/>
          </a:prstGeom>
          <a:solidFill>
            <a:srgbClr val="1A2B40"/>
          </a:solidFill>
          <a:ln w="12700">
            <a:solidFill>
              <a:srgbClr val="3DBE6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452628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B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Streams: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Outplacement (£2K–5K/employee)  ·  University White-Label  ·  Career Coach API (£199/seat/mo)  → 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A: £6M ARR run rate by Month 18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Execution Timeline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194560" y="749808"/>
            <a:ext cx="6583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1828800" cy="1188720"/>
          </a:xfrm>
          <a:prstGeom prst="rect">
            <a:avLst/>
          </a:prstGeom>
          <a:solidFill>
            <a:srgbClr val="00B5AD">
              <a:alpha val="85000"/>
            </a:srgbClr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2029968"/>
            <a:ext cx="6583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029968"/>
            <a:ext cx="1828800" cy="118872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2996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GTM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3310128"/>
            <a:ext cx="6583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310128"/>
            <a:ext cx="1828800" cy="1188720"/>
          </a:xfrm>
          <a:prstGeom prst="rect">
            <a:avLst/>
          </a:prstGeom>
          <a:solidFill>
            <a:srgbClr val="3DBE6C">
              <a:alpha val="85000"/>
            </a:srgbClr>
          </a:solidFill>
          <a:ln w="12700">
            <a:solidFill>
              <a:srgbClr val="3DBE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31012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B2B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713232"/>
            <a:ext cx="2194560" cy="219456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71323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713232"/>
            <a:ext cx="219456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71323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713232"/>
            <a:ext cx="2194560" cy="219456"/>
          </a:xfrm>
          <a:prstGeom prst="rect">
            <a:avLst/>
          </a:prstGeom>
          <a:solidFill>
            <a:srgbClr val="3DBE6C"/>
          </a:solidFill>
          <a:ln w="12700">
            <a:solidFill>
              <a:srgbClr val="3DBE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71323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822960"/>
            <a:ext cx="2011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page → 5 ATS integrations → CV gen + auto-apply beta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822960"/>
            <a:ext cx="2011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coach → Outcome ML V1 → Outreach agent → 30+ ATS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75120" y="822960"/>
            <a:ext cx="2011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resume testing → Hidden job alerts → Voice negotiation coach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86000" y="2103120"/>
            <a:ext cx="2011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500 users → ProductHunt prep → LinkedIn founder content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2103120"/>
            <a:ext cx="2011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ProductHunt launch → Referral program → PR: AI vs human recruiter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2103120"/>
            <a:ext cx="2011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tiers live → International (UK→US/CA) → University pilots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86000" y="3383280"/>
            <a:ext cx="2011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CHRO interviews → Validate outplacement WTP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0" y="3383280"/>
            <a:ext cx="2011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B2B outplacement deal → Career Coach API beta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75120" y="3383280"/>
            <a:ext cx="20116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enterprise contracts → Series A deck → £6M ARR target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51960" y="4041648"/>
            <a:ext cx="164592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51960" y="40416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£1.5–2M  |  Month 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92240" y="4041648"/>
            <a:ext cx="2011680" cy="548640"/>
          </a:xfrm>
          <a:prstGeom prst="rect">
            <a:avLst/>
          </a:prstGeom>
          <a:solidFill>
            <a:srgbClr val="3DBE6C"/>
          </a:solidFill>
          <a:ln w="12700">
            <a:solidFill>
              <a:srgbClr val="3DB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404164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£6M ARR Run Rate  |  Month 18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&amp; Financial Projections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5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1965960" cy="54864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77824"/>
            <a:ext cx="1819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£780K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38912" y="1389888"/>
            <a:ext cx="18196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618488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model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804672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3DB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804672"/>
            <a:ext cx="1965960" cy="54864"/>
          </a:xfrm>
          <a:prstGeom prst="rect">
            <a:avLst/>
          </a:prstGeom>
          <a:solidFill>
            <a:srgbClr val="3DBE6C"/>
          </a:solidFill>
          <a:ln w="12700">
            <a:solidFill>
              <a:srgbClr val="3DBE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877824"/>
            <a:ext cx="1819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DB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87752" y="1389888"/>
            <a:ext cx="18196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87752" y="1618488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82%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804672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04672"/>
            <a:ext cx="19659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877824"/>
            <a:ext cx="1819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: 1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736592" y="1389888"/>
            <a:ext cx="18196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1618488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ratio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12280" y="804672"/>
            <a:ext cx="19659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7FD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804672"/>
            <a:ext cx="1965960" cy="54864"/>
          </a:xfrm>
          <a:prstGeom prst="rect">
            <a:avLst/>
          </a:prstGeom>
          <a:solidFill>
            <a:srgbClr val="7FD8D4"/>
          </a:solidFill>
          <a:ln w="12700">
            <a:solidFill>
              <a:srgbClr val="7FD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877824"/>
            <a:ext cx="18196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85432" y="1389888"/>
            <a:ext cx="18196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85432" y="1618488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cashflow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20040" y="1993392"/>
          <a:ext cx="51206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993392"/>
          <a:ext cx="3246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68680"/>
                <a:gridCol w="777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ARPU (blended)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£25–40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£15–20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15–20%*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(3mo 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£150K+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Raise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£1.5–2M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NaN" marT="NaN" marB="NaN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5623560" y="44622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Candidates who find jobs = positive signal. Mitigate via referrals, B2B multi-year deals, career maintenance subscriptions.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 — Updated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20624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896112"/>
            <a:ext cx="777240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8961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9611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Platform Blocking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0700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randomisation, API partnerships where available, human-assisted fallback for blocked platforms. 50+ ATS diversification: any single block = &lt;5% impact.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420624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896112"/>
            <a:ext cx="777240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8961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89611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API Restrictions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20700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send limits, randomised timing, warm-up sequences. Email as primary outreach fallback. Consent-based cookie sessions. Diversify: email &gt; LinkedIn.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94560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2286000"/>
            <a:ext cx="7772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2860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286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 / Wrong Applications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259689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confirmation step before auto-applying. Confidence threshold: only apply when match score &gt;75%. User can review + override any AI output before submission.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19456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194560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9560" y="2286000"/>
            <a:ext cx="7772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22860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2860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Degradation at Scale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596896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quality &gt; volume. A/B test response rates per message variant. Outcome learning loop detects quality drops before they affect placements systematically.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5844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84448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29000" y="3675888"/>
            <a:ext cx="7772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67588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367588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Response (LinkedIn/Indeed)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3986784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data moat. LinkedIn/Indeed have no candidate-level outcome conversion data. CareerAI's model compounds; incumbents start from zero with no playbook.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58444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584448"/>
            <a:ext cx="4206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9560" y="3675888"/>
            <a:ext cx="77724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367588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367588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Too Slow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3986784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freemium limits at signup. 14-day Pro trial + credit card required. B2B outplacement from Month 7 diversifies. £49 Pro tier priced for fast CAC payback (&lt;1 month).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FD8D4"/>
          </a:solidFill>
          <a:ln w="12700">
            <a:solidFill>
              <a:srgbClr val="7FD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 &amp; The Data Moat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CareerAI becomes harder to beat with every passing week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08960" y="2377440"/>
            <a:ext cx="2011680" cy="914400"/>
          </a:xfrm>
          <a:prstGeom prst="ellipse">
            <a:avLst/>
          </a:prstGeom>
          <a:solidFill>
            <a:srgbClr val="1A2B40"/>
          </a:solidFill>
          <a:ln w="12700">
            <a:solidFill>
              <a:srgbClr val="00B5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0" y="23774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23444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00B5AD">
              <a:alpha val="82000"/>
            </a:srgbClr>
          </a:solidFill>
          <a:ln w="12700">
            <a:solidFill>
              <a:srgbClr val="00B5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0" y="12344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92024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5A623">
              <a:alpha val="82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192024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384048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3DBE6C">
              <a:alpha val="82000"/>
            </a:srgbClr>
          </a:solidFill>
          <a:ln w="12700">
            <a:solidFill>
              <a:srgbClr val="3DB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38404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Outcome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384048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7FD8D4">
              <a:alpha val="82000"/>
            </a:srgbClr>
          </a:solidFill>
          <a:ln w="12700">
            <a:solidFill>
              <a:srgbClr val="7FD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38404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2194560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5A623">
              <a:alpha val="82000"/>
            </a:srgbClr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219456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Matches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More Interviews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🔒  Proprietary application outcome data — no competitor has individual-level conversion signals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" y="1938528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⚙️  ATS integration depth — 50+ platforms = multi-year engineering head start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920" y="2596896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🌐  Network graph — which connections led to warm intros and job conversions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" y="3255264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❤️  Brand trust — first mover + strong outcomes in high-stakes category = lasting loyalty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920" y="3913632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🔁  Switching costs — candidates who train CareerAI have strong reasons to stay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2920" y="1261872"/>
            <a:ext cx="36576" cy="502920"/>
          </a:xfrm>
          <a:prstGeom prst="rect">
            <a:avLst/>
          </a:prstGeom>
          <a:solidFill>
            <a:srgbClr val="7FD8D4"/>
          </a:solidFill>
          <a:ln w="12700">
            <a:solidFill>
              <a:srgbClr val="7FD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26187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Proprietary application outcome data — no competitor has individual-level conversion signals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1920240"/>
            <a:ext cx="36576" cy="502920"/>
          </a:xfrm>
          <a:prstGeom prst="rect">
            <a:avLst/>
          </a:prstGeom>
          <a:solidFill>
            <a:srgbClr val="7FD8D4"/>
          </a:solidFill>
          <a:ln w="12700">
            <a:solidFill>
              <a:srgbClr val="7FD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9202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ATS integration depth — 50+ platforms = multi-year engineering head start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578608"/>
            <a:ext cx="36576" cy="502920"/>
          </a:xfrm>
          <a:prstGeom prst="rect">
            <a:avLst/>
          </a:prstGeom>
          <a:solidFill>
            <a:srgbClr val="7FD8D4"/>
          </a:solidFill>
          <a:ln w="12700">
            <a:solidFill>
              <a:srgbClr val="7FD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5786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 graph — which connections led to warm intros and job conversions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236976"/>
            <a:ext cx="36576" cy="502920"/>
          </a:xfrm>
          <a:prstGeom prst="rect">
            <a:avLst/>
          </a:prstGeom>
          <a:solidFill>
            <a:srgbClr val="7FD8D4"/>
          </a:solidFill>
          <a:ln w="12700">
            <a:solidFill>
              <a:srgbClr val="7FD8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3697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Brand trust — first mover + strong outcomes in high-stakes category = lasting loyalty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895344"/>
            <a:ext cx="36576" cy="502920"/>
          </a:xfrm>
          <a:prstGeom prst="rect">
            <a:avLst/>
          </a:prstGeom>
          <a:solidFill>
            <a:srgbClr val="7FD8D4"/>
          </a:solidFill>
          <a:ln w="12700">
            <a:solidFill>
              <a:srgbClr val="7FD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89534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Switching costs — candidates who train CareerAI have strong reasons to stay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CareerAI is positioned to be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venture-scale company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reverse recruiting.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2212848"/>
            <a:ext cx="1920240" cy="1024128"/>
          </a:xfrm>
          <a:prstGeom prst="rect">
            <a:avLst/>
          </a:prstGeom>
          <a:solidFill>
            <a:srgbClr val="1A2B40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2267712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250M+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76072" y="272491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using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methods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2212848"/>
            <a:ext cx="1920240" cy="1024128"/>
          </a:xfrm>
          <a:prstGeom prst="rect">
            <a:avLst/>
          </a:prstGeom>
          <a:solidFill>
            <a:srgbClr val="1A2B40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24912" y="2267712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24912" y="272491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career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2212848"/>
            <a:ext cx="1920240" cy="1024128"/>
          </a:xfrm>
          <a:prstGeom prst="rect">
            <a:avLst/>
          </a:prstGeom>
          <a:solidFill>
            <a:srgbClr val="1A2B40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73752" y="2267712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73752" y="272491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never seen by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recruiter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2212848"/>
            <a:ext cx="1920240" cy="1024128"/>
          </a:xfrm>
          <a:prstGeom prst="rect">
            <a:avLst/>
          </a:prstGeom>
          <a:solidFill>
            <a:srgbClr val="1A2B40"/>
          </a:solidFill>
          <a:ln w="12700">
            <a:solidFill>
              <a:srgbClr val="2D4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22592" y="2267712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22592" y="2724912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human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recruiters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401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201168" cy="219456"/>
          </a:xfrm>
          <a:prstGeom prst="rect">
            <a:avLst/>
          </a:prstGeom>
          <a:solidFill>
            <a:srgbClr val="00B5AD"/>
          </a:solidFill>
          <a:ln w="12700">
            <a:solidFill>
              <a:srgbClr val="00B5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79476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Validate demand — Stripe landing page live this week at £49/mo Pro tier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037076"/>
            <a:ext cx="201168" cy="219456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037076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Technical co-founder / CTO hire — Ex-FAANG, Playwright / ATS automation experience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279392"/>
            <a:ext cx="201168" cy="219456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27939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Apply to EF, YC or Antler accelerator cohort for network and credibility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521708"/>
            <a:ext cx="201168" cy="219456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52170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Secure seed funding — £750K–£1.5M target close within 60 days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764024"/>
            <a:ext cx="201168" cy="219456"/>
          </a:xfrm>
          <a:prstGeom prst="rect">
            <a:avLst/>
          </a:prstGeom>
          <a:solidFill>
            <a:srgbClr val="2D4A6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76402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Sprint 1 — Job ingestion pipeline + first 5 ATS integrations live in 4 weeks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CareerAI — Improved Product Roadmap 2026–2027</dc:title>
  <dc:subject>PptxGenJS Presentation</dc:subject>
  <dc:creator>PptxGenJS</dc:creator>
  <cp:lastModifiedBy>PptxGenJS</cp:lastModifiedBy>
  <cp:revision>1</cp:revision>
  <dcterms:created xsi:type="dcterms:W3CDTF">2026-05-08T10:03:27Z</dcterms:created>
  <dcterms:modified xsi:type="dcterms:W3CDTF">2026-05-08T10:03:27Z</dcterms:modified>
</cp:coreProperties>
</file>